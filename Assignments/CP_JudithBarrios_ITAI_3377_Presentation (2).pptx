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3A7BD5"/>
          </a:solidFill>
          <a:ln w="12700">
            <a:solidFill>
              <a:srgbClr val="3A7BD5"/>
            </a:solidFill>
            <a:prstDash val="solid"/>
          </a:ln>
        </p:spPr>
      </p:sp>
      <p:sp>
        <p:nvSpPr>
          <p:cNvPr id="3" name="Shape 1"/>
          <p:cNvSpPr/>
          <p:nvPr/>
        </p:nvSpPr>
        <p:spPr>
          <a:xfrm>
            <a:off x="411480" y="347472"/>
            <a:ext cx="2560320" cy="329184"/>
          </a:xfrm>
          <a:prstGeom prst="rect">
            <a:avLst/>
          </a:prstGeom>
          <a:solidFill>
            <a:srgbClr val="3A7BD5"/>
          </a:solidFill>
          <a:ln w="12700">
            <a:solidFill>
              <a:srgbClr val="3A7BD5"/>
            </a:solidFill>
            <a:prstDash val="solid"/>
          </a:ln>
        </p:spPr>
      </p:sp>
      <p:sp>
        <p:nvSpPr>
          <p:cNvPr id="4" name="Text 2"/>
          <p:cNvSpPr/>
          <p:nvPr/>
        </p:nvSpPr>
        <p:spPr>
          <a:xfrm>
            <a:off x="411480" y="347472"/>
            <a:ext cx="2560320" cy="32918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ITAI 3377 | CAPSTONE PROJECT</a:t>
            </a:r>
            <a:endParaRPr lang="en-US" sz="800" dirty="0"/>
          </a:p>
        </p:txBody>
      </p:sp>
      <p:sp>
        <p:nvSpPr>
          <p:cNvPr id="5" name="Text 3"/>
          <p:cNvSpPr/>
          <p:nvPr/>
        </p:nvSpPr>
        <p:spPr>
          <a:xfrm>
            <a:off x="411480" y="1005840"/>
            <a:ext cx="5943600" cy="1737360"/>
          </a:xfrm>
          <a:prstGeom prst="rect">
            <a:avLst/>
          </a:prstGeom>
          <a:noFill/>
          <a:ln/>
        </p:spPr>
        <p:txBody>
          <a:bodyPr wrap="square" rtlCol="0" anchor="ctr"/>
          <a:lstStyle/>
          <a:p>
            <a:pPr algn="l" indent="0" marL="0">
              <a:buNone/>
            </a:pPr>
            <a:r>
              <a:rPr lang="en-US" sz="3400" b="1" dirty="0">
                <a:solidFill>
                  <a:srgbClr val="FFFFFF"/>
                </a:solidFill>
                <a:latin typeface="Calibri" pitchFamily="34" charset="0"/>
                <a:ea typeface="Calibri" pitchFamily="34" charset="-122"/>
                <a:cs typeface="Calibri" pitchFamily="34" charset="-120"/>
              </a:rPr>
              <a:t>Autonomous Maintenance</a:t>
            </a:r>
            <a:endParaRPr lang="en-US" sz="3400" dirty="0"/>
          </a:p>
          <a:p>
            <a:pPr algn="l" indent="0" marL="0">
              <a:buNone/>
            </a:pPr>
            <a:r>
              <a:rPr lang="en-US" sz="3400" b="1" dirty="0">
                <a:solidFill>
                  <a:srgbClr val="FFFFFF"/>
                </a:solidFill>
                <a:latin typeface="Calibri" pitchFamily="34" charset="0"/>
                <a:ea typeface="Calibri" pitchFamily="34" charset="-122"/>
                <a:cs typeface="Calibri" pitchFamily="34" charset="-120"/>
              </a:rPr>
              <a:t>Agent for a Smart Factory</a:t>
            </a:r>
            <a:endParaRPr lang="en-US" sz="3400" dirty="0"/>
          </a:p>
        </p:txBody>
      </p:sp>
      <p:sp>
        <p:nvSpPr>
          <p:cNvPr id="6" name="Text 4"/>
          <p:cNvSpPr/>
          <p:nvPr/>
        </p:nvSpPr>
        <p:spPr>
          <a:xfrm>
            <a:off x="411480" y="2834640"/>
            <a:ext cx="5943600" cy="822960"/>
          </a:xfrm>
          <a:prstGeom prst="rect">
            <a:avLst/>
          </a:prstGeom>
          <a:noFill/>
          <a:ln/>
        </p:spPr>
        <p:txBody>
          <a:bodyPr wrap="square" rtlCol="0" anchor="ctr"/>
          <a:lstStyle/>
          <a:p>
            <a:pPr algn="l" indent="0" marL="0">
              <a:buNone/>
            </a:pPr>
            <a:r>
              <a:rPr lang="en-US" sz="1400" dirty="0">
                <a:solidFill>
                  <a:srgbClr val="A8C8E8"/>
                </a:solidFill>
                <a:latin typeface="Calibri" pitchFamily="34" charset="0"/>
                <a:ea typeface="Calibri" pitchFamily="34" charset="-122"/>
                <a:cs typeface="Calibri" pitchFamily="34" charset="-120"/>
              </a:rPr>
              <a:t>A Conceptual AI-Driven Design for Predictive</a:t>
            </a:r>
            <a:endParaRPr lang="en-US" sz="1400" dirty="0"/>
          </a:p>
          <a:p>
            <a:pPr algn="l" indent="0" marL="0">
              <a:buNone/>
            </a:pPr>
            <a:r>
              <a:rPr lang="en-US" sz="1400" dirty="0">
                <a:solidFill>
                  <a:srgbClr val="A8C8E8"/>
                </a:solidFill>
                <a:latin typeface="Calibri" pitchFamily="34" charset="0"/>
                <a:ea typeface="Calibri" pitchFamily="34" charset="-122"/>
                <a:cs typeface="Calibri" pitchFamily="34" charset="-120"/>
              </a:rPr>
              <a:t>Maintenance in Industrial Edge Environments</a:t>
            </a:r>
            <a:endParaRPr lang="en-US" sz="1400" dirty="0"/>
          </a:p>
        </p:txBody>
      </p:sp>
      <p:sp>
        <p:nvSpPr>
          <p:cNvPr id="7" name="Shape 5"/>
          <p:cNvSpPr/>
          <p:nvPr/>
        </p:nvSpPr>
        <p:spPr>
          <a:xfrm>
            <a:off x="411480" y="4389120"/>
            <a:ext cx="5943600" cy="36576"/>
          </a:xfrm>
          <a:prstGeom prst="rect">
            <a:avLst/>
          </a:prstGeom>
          <a:solidFill>
            <a:srgbClr val="4A6FA5"/>
          </a:solidFill>
          <a:ln w="12700">
            <a:solidFill>
              <a:srgbClr val="4A6FA5"/>
            </a:solidFill>
            <a:prstDash val="solid"/>
          </a:ln>
        </p:spPr>
      </p:sp>
      <p:sp>
        <p:nvSpPr>
          <p:cNvPr id="8" name="Text 6"/>
          <p:cNvSpPr/>
          <p:nvPr/>
        </p:nvSpPr>
        <p:spPr>
          <a:xfrm>
            <a:off x="411480" y="4480560"/>
            <a:ext cx="5943600" cy="411480"/>
          </a:xfrm>
          <a:prstGeom prst="rect">
            <a:avLst/>
          </a:prstGeom>
          <a:noFill/>
          <a:ln/>
        </p:spPr>
        <p:txBody>
          <a:bodyPr wrap="square" rtlCol="0" anchor="ctr"/>
          <a:lstStyle/>
          <a:p>
            <a:pPr algn="l" indent="0" marL="0">
              <a:buNone/>
            </a:pPr>
            <a:r>
              <a:rPr lang="en-US" sz="1100" dirty="0">
                <a:solidFill>
                  <a:srgbClr val="A8C8E8"/>
                </a:solidFill>
                <a:latin typeface="Calibri" pitchFamily="34" charset="0"/>
                <a:ea typeface="Calibri" pitchFamily="34" charset="-122"/>
                <a:cs typeface="Calibri" pitchFamily="34" charset="-120"/>
              </a:rPr>
              <a:t>Judith Barrios     |     Conceptual Path     |     Due: April 29</a:t>
            </a:r>
            <a:endParaRPr lang="en-US" sz="1100" dirty="0"/>
          </a:p>
        </p:txBody>
      </p:sp>
      <p:sp>
        <p:nvSpPr>
          <p:cNvPr id="9" name="Shape 7"/>
          <p:cNvSpPr/>
          <p:nvPr/>
        </p:nvSpPr>
        <p:spPr>
          <a:xfrm>
            <a:off x="6858000" y="274320"/>
            <a:ext cx="2560320" cy="2560320"/>
          </a:xfrm>
          <a:prstGeom prst="ellipse">
            <a:avLst/>
          </a:prstGeom>
          <a:solidFill>
            <a:srgbClr val="4A6FA5">
              <a:alpha val="25000"/>
            </a:srgbClr>
          </a:solidFill>
          <a:ln w="12700">
            <a:solidFill>
              <a:srgbClr val="4A6FA5">
                <a:alpha val="25000"/>
              </a:srgbClr>
            </a:solidFill>
            <a:prstDash val="solid"/>
          </a:ln>
        </p:spPr>
      </p:sp>
      <p:sp>
        <p:nvSpPr>
          <p:cNvPr id="10" name="Shape 8"/>
          <p:cNvSpPr/>
          <p:nvPr/>
        </p:nvSpPr>
        <p:spPr>
          <a:xfrm>
            <a:off x="7406640" y="2103120"/>
            <a:ext cx="1645920" cy="1645920"/>
          </a:xfrm>
          <a:prstGeom prst="ellipse">
            <a:avLst/>
          </a:prstGeom>
          <a:solidFill>
            <a:srgbClr val="3A7BD5">
              <a:alpha val="20000"/>
            </a:srgbClr>
          </a:solidFill>
          <a:ln w="12700">
            <a:solidFill>
              <a:srgbClr val="3A7BD5">
                <a:alpha val="20000"/>
              </a:srgbClr>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365760" y="201168"/>
            <a:ext cx="2011680" cy="292608"/>
          </a:xfrm>
          <a:prstGeom prst="rect">
            <a:avLst/>
          </a:prstGeom>
          <a:solidFill>
            <a:srgbClr val="2E6DA4"/>
          </a:solidFill>
          <a:ln w="12700">
            <a:solidFill>
              <a:srgbClr val="2E6DA4"/>
            </a:solidFill>
            <a:prstDash val="solid"/>
          </a:ln>
        </p:spPr>
      </p:sp>
      <p:sp>
        <p:nvSpPr>
          <p:cNvPr id="3" name="Text 1"/>
          <p:cNvSpPr/>
          <p:nvPr/>
        </p:nvSpPr>
        <p:spPr>
          <a:xfrm>
            <a:off x="365760" y="201168"/>
            <a:ext cx="201168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OVERVIEW</a:t>
            </a:r>
            <a:endParaRPr lang="en-US" sz="850" dirty="0"/>
          </a:p>
        </p:txBody>
      </p:sp>
      <p:sp>
        <p:nvSpPr>
          <p:cNvPr id="4" name="Text 2"/>
          <p:cNvSpPr/>
          <p:nvPr/>
        </p:nvSpPr>
        <p:spPr>
          <a:xfrm>
            <a:off x="365760" y="594360"/>
            <a:ext cx="8412480" cy="548640"/>
          </a:xfrm>
          <a:prstGeom prst="rect">
            <a:avLst/>
          </a:prstGeom>
          <a:noFill/>
          <a:ln/>
        </p:spPr>
        <p:txBody>
          <a:bodyPr wrap="square" rtlCol="0" anchor="ctr"/>
          <a:lstStyle/>
          <a:p>
            <a:pPr algn="l" indent="0" marL="0">
              <a:buNone/>
            </a:pPr>
            <a:r>
              <a:rPr lang="en-US" sz="2600" b="1" dirty="0">
                <a:solidFill>
                  <a:srgbClr val="1A1A2E"/>
                </a:solidFill>
                <a:latin typeface="Calibri" pitchFamily="34" charset="0"/>
                <a:ea typeface="Calibri" pitchFamily="34" charset="-122"/>
                <a:cs typeface="Calibri" pitchFamily="34" charset="-120"/>
              </a:rPr>
              <a:t>Project Proposal &amp; Scope</a:t>
            </a:r>
            <a:endParaRPr lang="en-US" sz="2600" dirty="0"/>
          </a:p>
        </p:txBody>
      </p:sp>
      <p:sp>
        <p:nvSpPr>
          <p:cNvPr id="5" name="Shape 3"/>
          <p:cNvSpPr/>
          <p:nvPr/>
        </p:nvSpPr>
        <p:spPr>
          <a:xfrm>
            <a:off x="365760" y="1170432"/>
            <a:ext cx="8412480" cy="36576"/>
          </a:xfrm>
          <a:prstGeom prst="rect">
            <a:avLst/>
          </a:prstGeom>
          <a:solidFill>
            <a:srgbClr val="2E6DA4"/>
          </a:solidFill>
          <a:ln w="12700">
            <a:solidFill>
              <a:srgbClr val="2E6DA4"/>
            </a:solidFill>
            <a:prstDash val="solid"/>
          </a:ln>
        </p:spPr>
      </p:sp>
      <p:sp>
        <p:nvSpPr>
          <p:cNvPr id="6" name="Text 4"/>
          <p:cNvSpPr/>
          <p:nvPr/>
        </p:nvSpPr>
        <p:spPr>
          <a:xfrm>
            <a:off x="8412480" y="4754880"/>
            <a:ext cx="6400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 / 8</a:t>
            </a:r>
            <a:endParaRPr lang="en-US" sz="900" dirty="0"/>
          </a:p>
        </p:txBody>
      </p:sp>
      <p:sp>
        <p:nvSpPr>
          <p:cNvPr id="7" name="Shape 5"/>
          <p:cNvSpPr/>
          <p:nvPr/>
        </p:nvSpPr>
        <p:spPr>
          <a:xfrm>
            <a:off x="365760" y="1325880"/>
            <a:ext cx="2697480" cy="3474720"/>
          </a:xfrm>
          <a:prstGeom prst="rect">
            <a:avLst/>
          </a:prstGeom>
          <a:solidFill>
            <a:srgbClr val="FFFFFF"/>
          </a:solidFill>
          <a:ln w="12700">
            <a:solidFill>
              <a:srgbClr val="D0DCE8"/>
            </a:solidFill>
            <a:prstDash val="solid"/>
          </a:ln>
          <a:effectLst>
            <a:outerShdw sx="100000" sy="100000" kx="0" ky="0" algn="bl" rotWithShape="0" blurRad="101600" dist="38100" dir="8100000">
              <a:srgbClr val="000000">
                <a:alpha val="12000"/>
              </a:srgbClr>
            </a:outerShdw>
          </a:effectLst>
        </p:spPr>
      </p:sp>
      <p:sp>
        <p:nvSpPr>
          <p:cNvPr id="8" name="Shape 6"/>
          <p:cNvSpPr/>
          <p:nvPr/>
        </p:nvSpPr>
        <p:spPr>
          <a:xfrm>
            <a:off x="365760" y="1325880"/>
            <a:ext cx="2697480" cy="109728"/>
          </a:xfrm>
          <a:prstGeom prst="rect">
            <a:avLst/>
          </a:prstGeom>
          <a:solidFill>
            <a:srgbClr val="2E6DA4"/>
          </a:solidFill>
          <a:ln w="12700">
            <a:solidFill>
              <a:srgbClr val="2E6DA4"/>
            </a:solidFill>
            <a:prstDash val="solid"/>
          </a:ln>
        </p:spPr>
      </p:sp>
      <p:sp>
        <p:nvSpPr>
          <p:cNvPr id="9" name="Text 7"/>
          <p:cNvSpPr/>
          <p:nvPr/>
        </p:nvSpPr>
        <p:spPr>
          <a:xfrm>
            <a:off x="502920" y="1508760"/>
            <a:ext cx="2423160" cy="411480"/>
          </a:xfrm>
          <a:prstGeom prst="rect">
            <a:avLst/>
          </a:prstGeom>
          <a:noFill/>
          <a:ln/>
        </p:spPr>
        <p:txBody>
          <a:bodyPr wrap="square"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The Problem</a:t>
            </a:r>
            <a:endParaRPr lang="en-US" sz="1400" dirty="0"/>
          </a:p>
        </p:txBody>
      </p:sp>
      <p:sp>
        <p:nvSpPr>
          <p:cNvPr id="10" name="Text 8"/>
          <p:cNvSpPr/>
          <p:nvPr/>
        </p:nvSpPr>
        <p:spPr>
          <a:xfrm>
            <a:off x="502920" y="1993392"/>
            <a:ext cx="2423160" cy="2651760"/>
          </a:xfrm>
          <a:prstGeom prst="rect">
            <a:avLst/>
          </a:prstGeom>
          <a:noFill/>
          <a:ln/>
        </p:spPr>
        <p:txBody>
          <a:bodyPr wrap="square" rtlCol="0" anchor="t"/>
          <a:lstStyle/>
          <a:p>
            <a:pPr algn="l" indent="0" marL="0">
              <a:buNone/>
            </a:pPr>
            <a:r>
              <a:rPr lang="en-US" sz="1200" dirty="0">
                <a:solidFill>
                  <a:srgbClr val="374151"/>
                </a:solidFill>
                <a:latin typeface="Calibri" pitchFamily="34" charset="0"/>
                <a:ea typeface="Calibri" pitchFamily="34" charset="-122"/>
                <a:cs typeface="Calibri" pitchFamily="34" charset="-120"/>
              </a:rPr>
              <a:t>Factories lose huge amounts of money when machines break down without warning. Fixed maintenance schedules do not reflect actual equipment condition, leading to wasted resources and missed issues.</a:t>
            </a:r>
            <a:endParaRPr lang="en-US" sz="1200" dirty="0"/>
          </a:p>
        </p:txBody>
      </p:sp>
      <p:sp>
        <p:nvSpPr>
          <p:cNvPr id="11" name="Shape 9"/>
          <p:cNvSpPr/>
          <p:nvPr/>
        </p:nvSpPr>
        <p:spPr>
          <a:xfrm>
            <a:off x="3246120" y="1325880"/>
            <a:ext cx="2697480" cy="3474720"/>
          </a:xfrm>
          <a:prstGeom prst="rect">
            <a:avLst/>
          </a:prstGeom>
          <a:solidFill>
            <a:srgbClr val="FFFFFF"/>
          </a:solidFill>
          <a:ln w="12700">
            <a:solidFill>
              <a:srgbClr val="D0DCE8"/>
            </a:solidFill>
            <a:prstDash val="solid"/>
          </a:ln>
          <a:effectLst>
            <a:outerShdw sx="100000" sy="100000" kx="0" ky="0" algn="bl" rotWithShape="0" blurRad="101600" dist="38100" dir="8100000">
              <a:srgbClr val="000000">
                <a:alpha val="12000"/>
              </a:srgbClr>
            </a:outerShdw>
          </a:effectLst>
        </p:spPr>
      </p:sp>
      <p:sp>
        <p:nvSpPr>
          <p:cNvPr id="12" name="Shape 10"/>
          <p:cNvSpPr/>
          <p:nvPr/>
        </p:nvSpPr>
        <p:spPr>
          <a:xfrm>
            <a:off x="3246120" y="1325880"/>
            <a:ext cx="2697480" cy="109728"/>
          </a:xfrm>
          <a:prstGeom prst="rect">
            <a:avLst/>
          </a:prstGeom>
          <a:solidFill>
            <a:srgbClr val="2E6DA4"/>
          </a:solidFill>
          <a:ln w="12700">
            <a:solidFill>
              <a:srgbClr val="2E6DA4"/>
            </a:solidFill>
            <a:prstDash val="solid"/>
          </a:ln>
        </p:spPr>
      </p:sp>
      <p:sp>
        <p:nvSpPr>
          <p:cNvPr id="13" name="Text 11"/>
          <p:cNvSpPr/>
          <p:nvPr/>
        </p:nvSpPr>
        <p:spPr>
          <a:xfrm>
            <a:off x="3383280" y="1508760"/>
            <a:ext cx="2423160" cy="411480"/>
          </a:xfrm>
          <a:prstGeom prst="rect">
            <a:avLst/>
          </a:prstGeom>
          <a:noFill/>
          <a:ln/>
        </p:spPr>
        <p:txBody>
          <a:bodyPr wrap="square"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The Solution</a:t>
            </a:r>
            <a:endParaRPr lang="en-US" sz="1400" dirty="0"/>
          </a:p>
        </p:txBody>
      </p:sp>
      <p:sp>
        <p:nvSpPr>
          <p:cNvPr id="14" name="Text 12"/>
          <p:cNvSpPr/>
          <p:nvPr/>
        </p:nvSpPr>
        <p:spPr>
          <a:xfrm>
            <a:off x="3383280" y="1993392"/>
            <a:ext cx="2423160" cy="2651760"/>
          </a:xfrm>
          <a:prstGeom prst="rect">
            <a:avLst/>
          </a:prstGeom>
          <a:noFill/>
          <a:ln/>
        </p:spPr>
        <p:txBody>
          <a:bodyPr wrap="square" rtlCol="0" anchor="t"/>
          <a:lstStyle/>
          <a:p>
            <a:pPr algn="l" indent="0" marL="0">
              <a:buNone/>
            </a:pPr>
            <a:r>
              <a:rPr lang="en-US" sz="1200" dirty="0">
                <a:solidFill>
                  <a:srgbClr val="374151"/>
                </a:solidFill>
                <a:latin typeface="Calibri" pitchFamily="34" charset="0"/>
                <a:ea typeface="Calibri" pitchFamily="34" charset="-122"/>
                <a:cs typeface="Calibri" pitchFamily="34" charset="-120"/>
              </a:rPr>
              <a:t>An autonomous AI agent monitors live sensor data around the clock and takes action on its own, catching warning signs before a failure occurs instead of reacting after the fact.</a:t>
            </a:r>
            <a:endParaRPr lang="en-US" sz="1200" dirty="0"/>
          </a:p>
        </p:txBody>
      </p:sp>
      <p:sp>
        <p:nvSpPr>
          <p:cNvPr id="15" name="Shape 13"/>
          <p:cNvSpPr/>
          <p:nvPr/>
        </p:nvSpPr>
        <p:spPr>
          <a:xfrm>
            <a:off x="6126480" y="1325880"/>
            <a:ext cx="2697480" cy="3474720"/>
          </a:xfrm>
          <a:prstGeom prst="rect">
            <a:avLst/>
          </a:prstGeom>
          <a:solidFill>
            <a:srgbClr val="FFFFFF"/>
          </a:solidFill>
          <a:ln w="12700">
            <a:solidFill>
              <a:srgbClr val="D0DCE8"/>
            </a:solidFill>
            <a:prstDash val="solid"/>
          </a:ln>
          <a:effectLst>
            <a:outerShdw sx="100000" sy="100000" kx="0" ky="0" algn="bl" rotWithShape="0" blurRad="101600" dist="38100" dir="8100000">
              <a:srgbClr val="000000">
                <a:alpha val="12000"/>
              </a:srgbClr>
            </a:outerShdw>
          </a:effectLst>
        </p:spPr>
      </p:sp>
      <p:sp>
        <p:nvSpPr>
          <p:cNvPr id="16" name="Shape 14"/>
          <p:cNvSpPr/>
          <p:nvPr/>
        </p:nvSpPr>
        <p:spPr>
          <a:xfrm>
            <a:off x="6126480" y="1325880"/>
            <a:ext cx="2697480" cy="109728"/>
          </a:xfrm>
          <a:prstGeom prst="rect">
            <a:avLst/>
          </a:prstGeom>
          <a:solidFill>
            <a:srgbClr val="2E6DA4"/>
          </a:solidFill>
          <a:ln w="12700">
            <a:solidFill>
              <a:srgbClr val="2E6DA4"/>
            </a:solidFill>
            <a:prstDash val="solid"/>
          </a:ln>
        </p:spPr>
      </p:sp>
      <p:sp>
        <p:nvSpPr>
          <p:cNvPr id="17" name="Text 15"/>
          <p:cNvSpPr/>
          <p:nvPr/>
        </p:nvSpPr>
        <p:spPr>
          <a:xfrm>
            <a:off x="6263640" y="1508760"/>
            <a:ext cx="2423160" cy="411480"/>
          </a:xfrm>
          <a:prstGeom prst="rect">
            <a:avLst/>
          </a:prstGeom>
          <a:noFill/>
          <a:ln/>
        </p:spPr>
        <p:txBody>
          <a:bodyPr wrap="square"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Key Goals</a:t>
            </a:r>
            <a:endParaRPr lang="en-US" sz="1400" dirty="0"/>
          </a:p>
        </p:txBody>
      </p:sp>
      <p:sp>
        <p:nvSpPr>
          <p:cNvPr id="18" name="Text 16"/>
          <p:cNvSpPr/>
          <p:nvPr/>
        </p:nvSpPr>
        <p:spPr>
          <a:xfrm>
            <a:off x="6263640" y="1993392"/>
            <a:ext cx="2423160" cy="2651760"/>
          </a:xfrm>
          <a:prstGeom prst="rect">
            <a:avLst/>
          </a:prstGeom>
          <a:noFill/>
          <a:ln/>
        </p:spPr>
        <p:txBody>
          <a:bodyPr wrap="square" rtlCol="0" anchor="t"/>
          <a:lstStyle/>
          <a:p>
            <a:pPr algn="l" indent="0" marL="0">
              <a:buNone/>
            </a:pPr>
            <a:r>
              <a:rPr lang="en-US" sz="1200" dirty="0">
                <a:solidFill>
                  <a:srgbClr val="374151"/>
                </a:solidFill>
                <a:latin typeface="Calibri" pitchFamily="34" charset="0"/>
                <a:ea typeface="Calibri" pitchFamily="34" charset="-122"/>
                <a:cs typeface="Calibri" pitchFamily="34" charset="-120"/>
              </a:rPr>
              <a:t>Fewer unplanned shutdowns, lower repair costs, smarter use of maintenance staff time, and a safer environment for factory workers across the operation.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365760" y="201168"/>
            <a:ext cx="2011680" cy="292608"/>
          </a:xfrm>
          <a:prstGeom prst="rect">
            <a:avLst/>
          </a:prstGeom>
          <a:solidFill>
            <a:srgbClr val="2E6DA4"/>
          </a:solidFill>
          <a:ln w="12700">
            <a:solidFill>
              <a:srgbClr val="2E6DA4"/>
            </a:solidFill>
            <a:prstDash val="solid"/>
          </a:ln>
        </p:spPr>
      </p:sp>
      <p:sp>
        <p:nvSpPr>
          <p:cNvPr id="3" name="Text 1"/>
          <p:cNvSpPr/>
          <p:nvPr/>
        </p:nvSpPr>
        <p:spPr>
          <a:xfrm>
            <a:off x="365760" y="201168"/>
            <a:ext cx="201168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ARCHITECTURE</a:t>
            </a:r>
            <a:endParaRPr lang="en-US" sz="850" dirty="0"/>
          </a:p>
        </p:txBody>
      </p:sp>
      <p:sp>
        <p:nvSpPr>
          <p:cNvPr id="4" name="Text 2"/>
          <p:cNvSpPr/>
          <p:nvPr/>
        </p:nvSpPr>
        <p:spPr>
          <a:xfrm>
            <a:off x="365760" y="594360"/>
            <a:ext cx="8412480" cy="548640"/>
          </a:xfrm>
          <a:prstGeom prst="rect">
            <a:avLst/>
          </a:prstGeom>
          <a:noFill/>
          <a:ln/>
        </p:spPr>
        <p:txBody>
          <a:bodyPr wrap="square" rtlCol="0" anchor="ctr"/>
          <a:lstStyle/>
          <a:p>
            <a:pPr algn="l" indent="0" marL="0">
              <a:buNone/>
            </a:pPr>
            <a:r>
              <a:rPr lang="en-US" sz="2600" b="1" dirty="0">
                <a:solidFill>
                  <a:srgbClr val="1A1A2E"/>
                </a:solidFill>
                <a:latin typeface="Calibri" pitchFamily="34" charset="0"/>
                <a:ea typeface="Calibri" pitchFamily="34" charset="-122"/>
                <a:cs typeface="Calibri" pitchFamily="34" charset="-120"/>
              </a:rPr>
              <a:t>System Architecture</a:t>
            </a:r>
            <a:endParaRPr lang="en-US" sz="2600" dirty="0"/>
          </a:p>
        </p:txBody>
      </p:sp>
      <p:sp>
        <p:nvSpPr>
          <p:cNvPr id="5" name="Shape 3"/>
          <p:cNvSpPr/>
          <p:nvPr/>
        </p:nvSpPr>
        <p:spPr>
          <a:xfrm>
            <a:off x="365760" y="1170432"/>
            <a:ext cx="8412480" cy="36576"/>
          </a:xfrm>
          <a:prstGeom prst="rect">
            <a:avLst/>
          </a:prstGeom>
          <a:solidFill>
            <a:srgbClr val="2E6DA4"/>
          </a:solidFill>
          <a:ln w="12700">
            <a:solidFill>
              <a:srgbClr val="2E6DA4"/>
            </a:solidFill>
            <a:prstDash val="solid"/>
          </a:ln>
        </p:spPr>
      </p:sp>
      <p:sp>
        <p:nvSpPr>
          <p:cNvPr id="6" name="Text 4"/>
          <p:cNvSpPr/>
          <p:nvPr/>
        </p:nvSpPr>
        <p:spPr>
          <a:xfrm>
            <a:off x="8412480" y="4754880"/>
            <a:ext cx="6400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 / 8</a:t>
            </a:r>
            <a:endParaRPr lang="en-US" sz="900" dirty="0"/>
          </a:p>
        </p:txBody>
      </p:sp>
      <p:sp>
        <p:nvSpPr>
          <p:cNvPr id="7" name="Text 5"/>
          <p:cNvSpPr/>
          <p:nvPr/>
        </p:nvSpPr>
        <p:spPr>
          <a:xfrm>
            <a:off x="365760" y="1280160"/>
            <a:ext cx="3474720" cy="3566160"/>
          </a:xfrm>
          <a:prstGeom prst="rect">
            <a:avLst/>
          </a:prstGeom>
          <a:noFill/>
          <a:ln/>
        </p:spPr>
        <p:txBody>
          <a:bodyPr wrap="square" rtlCol="0" anchor="t"/>
          <a:lstStyle/>
          <a:p>
            <a:pPr algn="l" indent="0" marL="0">
              <a:buNone/>
            </a:pPr>
            <a:r>
              <a:rPr lang="en-US" sz="1200" b="1" dirty="0">
                <a:solidFill>
                  <a:srgbClr val="2E6DA4"/>
                </a:solidFill>
                <a:latin typeface="Calibri" pitchFamily="34" charset="0"/>
                <a:ea typeface="Calibri" pitchFamily="34" charset="-122"/>
                <a:cs typeface="Calibri" pitchFamily="34" charset="-120"/>
              </a:rPr>
              <a:t>Edge-First Design</a:t>
            </a:r>
            <a:endParaRPr lang="en-US" sz="1200" dirty="0"/>
          </a:p>
          <a:p>
            <a:pPr algn="l" indent="0" marL="0">
              <a:buNone/>
            </a:pPr>
            <a:endParaRPr lang="en-US" sz="1200" dirty="0"/>
          </a:p>
          <a:p>
            <a:pPr algn="l" indent="0" marL="0">
              <a:buNone/>
            </a:pPr>
            <a:r>
              <a:rPr lang="en-US" sz="1200" dirty="0">
                <a:solidFill>
                  <a:srgbClr val="1A1A2E"/>
                </a:solidFill>
                <a:latin typeface="Calibri" pitchFamily="34" charset="0"/>
                <a:ea typeface="Calibri" pitchFamily="34" charset="-122"/>
                <a:cs typeface="Calibri" pitchFamily="34" charset="-120"/>
              </a:rPr>
              <a:t>Sensors stream readings over MQTT to a local edge gateway, keeping all time-sensitive decisions close to the equipment.</a:t>
            </a:r>
            <a:endParaRPr lang="en-US" sz="1200" dirty="0"/>
          </a:p>
          <a:p>
            <a:pPr algn="l" indent="0" marL="0">
              <a:buNone/>
            </a:pPr>
            <a:endParaRPr lang="en-US" sz="1200" dirty="0"/>
          </a:p>
          <a:p>
            <a:pPr algn="l" indent="0" marL="0">
              <a:buNone/>
            </a:pPr>
            <a:r>
              <a:rPr lang="en-US" sz="1200" b="1" dirty="0">
                <a:solidFill>
                  <a:srgbClr val="2E6DA4"/>
                </a:solidFill>
                <a:latin typeface="Calibri" pitchFamily="34" charset="0"/>
                <a:ea typeface="Calibri" pitchFamily="34" charset="-122"/>
                <a:cs typeface="Calibri" pitchFamily="34" charset="-120"/>
              </a:rPr>
              <a:t>Communication Protocols</a:t>
            </a:r>
            <a:endParaRPr lang="en-US" sz="1200" dirty="0"/>
          </a:p>
          <a:p>
            <a:pPr algn="l" indent="0" marL="0">
              <a:buNone/>
            </a:pPr>
            <a:endParaRPr lang="en-US" sz="1200" dirty="0"/>
          </a:p>
          <a:p>
            <a:pPr algn="l" indent="0" marL="0">
              <a:buNone/>
            </a:pPr>
            <a:r>
              <a:rPr lang="en-US" sz="1200" dirty="0">
                <a:solidFill>
                  <a:srgbClr val="1A1A2E"/>
                </a:solidFill>
                <a:latin typeface="Calibri" pitchFamily="34" charset="0"/>
                <a:ea typeface="Calibri" pitchFamily="34" charset="-122"/>
                <a:cs typeface="Calibri" pitchFamily="34" charset="-120"/>
              </a:rPr>
              <a:t>MQTT handles sensor-to-edge traffic. HTTP/REST connects the edge to the ThingsBoard cloud dashboard for reporting.</a:t>
            </a:r>
            <a:endParaRPr lang="en-US" sz="1200" dirty="0"/>
          </a:p>
          <a:p>
            <a:pPr algn="l" indent="0" marL="0">
              <a:buNone/>
            </a:pPr>
            <a:endParaRPr lang="en-US" sz="1200" dirty="0"/>
          </a:p>
          <a:p>
            <a:pPr algn="l" indent="0" marL="0">
              <a:buNone/>
            </a:pPr>
            <a:r>
              <a:rPr lang="en-US" sz="1200" b="1" dirty="0">
                <a:solidFill>
                  <a:srgbClr val="2E6DA4"/>
                </a:solidFill>
                <a:latin typeface="Calibri" pitchFamily="34" charset="0"/>
                <a:ea typeface="Calibri" pitchFamily="34" charset="-122"/>
                <a:cs typeface="Calibri" pitchFamily="34" charset="-120"/>
              </a:rPr>
              <a:t>Cloud Role</a:t>
            </a:r>
            <a:endParaRPr lang="en-US" sz="1200" dirty="0"/>
          </a:p>
          <a:p>
            <a:pPr algn="l" indent="0" marL="0">
              <a:buNone/>
            </a:pPr>
            <a:endParaRPr lang="en-US" sz="1200" dirty="0"/>
          </a:p>
          <a:p>
            <a:pPr algn="l" indent="0" marL="0">
              <a:buNone/>
            </a:pPr>
            <a:r>
              <a:rPr lang="en-US" sz="1200" dirty="0">
                <a:solidFill>
                  <a:srgbClr val="1A1A2E"/>
                </a:solidFill>
                <a:latin typeface="Calibri" pitchFamily="34" charset="0"/>
                <a:ea typeface="Calibri" pitchFamily="34" charset="-122"/>
                <a:cs typeface="Calibri" pitchFamily="34" charset="-120"/>
              </a:rPr>
              <a:t>The cloud handles long-term trend tracking and manager reporting only — not real-time calls.</a:t>
            </a:r>
            <a:endParaRPr lang="en-US" sz="1200" dirty="0"/>
          </a:p>
        </p:txBody>
      </p:sp>
      <p:pic>
        <p:nvPicPr>
          <p:cNvPr id="8" name="Image 0" descr="/home/claude/diagram_architecture.png">    </p:cNvPr>
          <p:cNvPicPr>
            <a:picLocks noChangeAspect="1"/>
          </p:cNvPicPr>
          <p:nvPr/>
        </p:nvPicPr>
        <p:blipFill>
          <a:blip r:embed="rId1"/>
          <a:stretch>
            <a:fillRect/>
          </a:stretch>
        </p:blipFill>
        <p:spPr>
          <a:xfrm>
            <a:off x="4023360" y="1261872"/>
            <a:ext cx="4846320" cy="32004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365760" y="201168"/>
            <a:ext cx="2011680" cy="292608"/>
          </a:xfrm>
          <a:prstGeom prst="rect">
            <a:avLst/>
          </a:prstGeom>
          <a:solidFill>
            <a:srgbClr val="2E6DA4"/>
          </a:solidFill>
          <a:ln w="12700">
            <a:solidFill>
              <a:srgbClr val="2E6DA4"/>
            </a:solidFill>
            <a:prstDash val="solid"/>
          </a:ln>
        </p:spPr>
      </p:sp>
      <p:sp>
        <p:nvSpPr>
          <p:cNvPr id="3" name="Text 1"/>
          <p:cNvSpPr/>
          <p:nvPr/>
        </p:nvSpPr>
        <p:spPr>
          <a:xfrm>
            <a:off x="365760" y="201168"/>
            <a:ext cx="201168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AI MODEL</a:t>
            </a:r>
            <a:endParaRPr lang="en-US" sz="850" dirty="0"/>
          </a:p>
        </p:txBody>
      </p:sp>
      <p:sp>
        <p:nvSpPr>
          <p:cNvPr id="4" name="Text 2"/>
          <p:cNvSpPr/>
          <p:nvPr/>
        </p:nvSpPr>
        <p:spPr>
          <a:xfrm>
            <a:off x="365760" y="594360"/>
            <a:ext cx="8412480" cy="548640"/>
          </a:xfrm>
          <a:prstGeom prst="rect">
            <a:avLst/>
          </a:prstGeom>
          <a:noFill/>
          <a:ln/>
        </p:spPr>
        <p:txBody>
          <a:bodyPr wrap="square" rtlCol="0" anchor="ctr"/>
          <a:lstStyle/>
          <a:p>
            <a:pPr algn="l" indent="0" marL="0">
              <a:buNone/>
            </a:pPr>
            <a:r>
              <a:rPr lang="en-US" sz="2600" b="1" dirty="0">
                <a:solidFill>
                  <a:srgbClr val="1A1A2E"/>
                </a:solidFill>
                <a:latin typeface="Calibri" pitchFamily="34" charset="0"/>
                <a:ea typeface="Calibri" pitchFamily="34" charset="-122"/>
                <a:cs typeface="Calibri" pitchFamily="34" charset="-120"/>
              </a:rPr>
              <a:t>AI Model Development</a:t>
            </a:r>
            <a:endParaRPr lang="en-US" sz="2600" dirty="0"/>
          </a:p>
        </p:txBody>
      </p:sp>
      <p:sp>
        <p:nvSpPr>
          <p:cNvPr id="5" name="Shape 3"/>
          <p:cNvSpPr/>
          <p:nvPr/>
        </p:nvSpPr>
        <p:spPr>
          <a:xfrm>
            <a:off x="365760" y="1170432"/>
            <a:ext cx="8412480" cy="36576"/>
          </a:xfrm>
          <a:prstGeom prst="rect">
            <a:avLst/>
          </a:prstGeom>
          <a:solidFill>
            <a:srgbClr val="2E6DA4"/>
          </a:solidFill>
          <a:ln w="12700">
            <a:solidFill>
              <a:srgbClr val="2E6DA4"/>
            </a:solidFill>
            <a:prstDash val="solid"/>
          </a:ln>
        </p:spPr>
      </p:sp>
      <p:sp>
        <p:nvSpPr>
          <p:cNvPr id="6" name="Text 4"/>
          <p:cNvSpPr/>
          <p:nvPr/>
        </p:nvSpPr>
        <p:spPr>
          <a:xfrm>
            <a:off x="8412480" y="4754880"/>
            <a:ext cx="6400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 / 8</a:t>
            </a:r>
            <a:endParaRPr lang="en-US" sz="900" dirty="0"/>
          </a:p>
        </p:txBody>
      </p:sp>
      <p:pic>
        <p:nvPicPr>
          <p:cNvPr id="7" name="Image 0" descr="/home/claude/diagram_aimodel.png">    </p:cNvPr>
          <p:cNvPicPr>
            <a:picLocks noChangeAspect="1"/>
          </p:cNvPicPr>
          <p:nvPr/>
        </p:nvPicPr>
        <p:blipFill>
          <a:blip r:embed="rId1"/>
          <a:stretch>
            <a:fillRect/>
          </a:stretch>
        </p:blipFill>
        <p:spPr>
          <a:xfrm>
            <a:off x="365760" y="1261872"/>
            <a:ext cx="8412480" cy="2377440"/>
          </a:xfrm>
          <a:prstGeom prst="rect">
            <a:avLst/>
          </a:prstGeom>
        </p:spPr>
      </p:pic>
      <p:sp>
        <p:nvSpPr>
          <p:cNvPr id="8" name="Shape 5"/>
          <p:cNvSpPr/>
          <p:nvPr/>
        </p:nvSpPr>
        <p:spPr>
          <a:xfrm>
            <a:off x="365760" y="3767328"/>
            <a:ext cx="2697480" cy="1115568"/>
          </a:xfrm>
          <a:prstGeom prst="rect">
            <a:avLst/>
          </a:prstGeom>
          <a:solidFill>
            <a:srgbClr val="D6E4F0"/>
          </a:solidFill>
          <a:ln w="12700">
            <a:solidFill>
              <a:srgbClr val="B8D0E8"/>
            </a:solidFill>
            <a:prstDash val="solid"/>
          </a:ln>
        </p:spPr>
      </p:sp>
      <p:sp>
        <p:nvSpPr>
          <p:cNvPr id="9" name="Text 6"/>
          <p:cNvSpPr/>
          <p:nvPr/>
        </p:nvSpPr>
        <p:spPr>
          <a:xfrm>
            <a:off x="475488" y="3803904"/>
            <a:ext cx="2478024" cy="274320"/>
          </a:xfrm>
          <a:prstGeom prst="rect">
            <a:avLst/>
          </a:prstGeom>
          <a:noFill/>
          <a:ln/>
        </p:spPr>
        <p:txBody>
          <a:bodyPr wrap="square" lIns="0" tIns="0" rIns="0" bIns="0" rtlCol="0" anchor="ctr"/>
          <a:lstStyle/>
          <a:p>
            <a:pPr indent="0" marL="0">
              <a:buNone/>
            </a:pPr>
            <a:r>
              <a:rPr lang="en-US" sz="1100" b="1" dirty="0">
                <a:solidFill>
                  <a:srgbClr val="2E6DA4"/>
                </a:solidFill>
                <a:latin typeface="Calibri" pitchFamily="34" charset="0"/>
                <a:ea typeface="Calibri" pitchFamily="34" charset="-122"/>
                <a:cs typeface="Calibri" pitchFamily="34" charset="-120"/>
              </a:rPr>
              <a:t>Autoencoder</a:t>
            </a:r>
            <a:endParaRPr lang="en-US" sz="1100" dirty="0"/>
          </a:p>
        </p:txBody>
      </p:sp>
      <p:sp>
        <p:nvSpPr>
          <p:cNvPr id="10" name="Text 7"/>
          <p:cNvSpPr/>
          <p:nvPr/>
        </p:nvSpPr>
        <p:spPr>
          <a:xfrm>
            <a:off x="475488" y="4114800"/>
            <a:ext cx="2478024" cy="713232"/>
          </a:xfrm>
          <a:prstGeom prst="rect">
            <a:avLst/>
          </a:prstGeom>
          <a:noFill/>
          <a:ln/>
        </p:spPr>
        <p:txBody>
          <a:bodyPr wrap="square" rtlCol="0" anchor="t"/>
          <a:lstStyle/>
          <a:p>
            <a:pPr indent="0" marL="0">
              <a:buNone/>
            </a:pPr>
            <a:r>
              <a:rPr lang="en-US" sz="1000" dirty="0">
                <a:solidFill>
                  <a:srgbClr val="1A1A2E"/>
                </a:solidFill>
                <a:latin typeface="Calibri" pitchFamily="34" charset="0"/>
                <a:ea typeface="Calibri" pitchFamily="34" charset="-122"/>
                <a:cs typeface="Calibri" pitchFamily="34" charset="-120"/>
              </a:rPr>
              <a:t>Learns normal patterns, flags deviations. Runs on TensorFlow Lite for fast edge inference.</a:t>
            </a:r>
            <a:endParaRPr lang="en-US" sz="1000" dirty="0"/>
          </a:p>
        </p:txBody>
      </p:sp>
      <p:sp>
        <p:nvSpPr>
          <p:cNvPr id="11" name="Shape 8"/>
          <p:cNvSpPr/>
          <p:nvPr/>
        </p:nvSpPr>
        <p:spPr>
          <a:xfrm>
            <a:off x="3246120" y="3767328"/>
            <a:ext cx="2697480" cy="1115568"/>
          </a:xfrm>
          <a:prstGeom prst="rect">
            <a:avLst/>
          </a:prstGeom>
          <a:solidFill>
            <a:srgbClr val="D6E4F0"/>
          </a:solidFill>
          <a:ln w="12700">
            <a:solidFill>
              <a:srgbClr val="B8D0E8"/>
            </a:solidFill>
            <a:prstDash val="solid"/>
          </a:ln>
        </p:spPr>
      </p:sp>
      <p:sp>
        <p:nvSpPr>
          <p:cNvPr id="12" name="Text 9"/>
          <p:cNvSpPr/>
          <p:nvPr/>
        </p:nvSpPr>
        <p:spPr>
          <a:xfrm>
            <a:off x="3355848" y="3803904"/>
            <a:ext cx="2478024" cy="274320"/>
          </a:xfrm>
          <a:prstGeom prst="rect">
            <a:avLst/>
          </a:prstGeom>
          <a:noFill/>
          <a:ln/>
        </p:spPr>
        <p:txBody>
          <a:bodyPr wrap="square" lIns="0" tIns="0" rIns="0" bIns="0" rtlCol="0" anchor="ctr"/>
          <a:lstStyle/>
          <a:p>
            <a:pPr indent="0" marL="0">
              <a:buNone/>
            </a:pPr>
            <a:r>
              <a:rPr lang="en-US" sz="1100" b="1" dirty="0">
                <a:solidFill>
                  <a:srgbClr val="2E6DA4"/>
                </a:solidFill>
                <a:latin typeface="Calibri" pitchFamily="34" charset="0"/>
                <a:ea typeface="Calibri" pitchFamily="34" charset="-122"/>
                <a:cs typeface="Calibri" pitchFamily="34" charset="-120"/>
              </a:rPr>
              <a:t>GAN</a:t>
            </a:r>
            <a:endParaRPr lang="en-US" sz="1100" dirty="0"/>
          </a:p>
        </p:txBody>
      </p:sp>
      <p:sp>
        <p:nvSpPr>
          <p:cNvPr id="13" name="Text 10"/>
          <p:cNvSpPr/>
          <p:nvPr/>
        </p:nvSpPr>
        <p:spPr>
          <a:xfrm>
            <a:off x="3355848" y="4114800"/>
            <a:ext cx="2478024" cy="713232"/>
          </a:xfrm>
          <a:prstGeom prst="rect">
            <a:avLst/>
          </a:prstGeom>
          <a:noFill/>
          <a:ln/>
        </p:spPr>
        <p:txBody>
          <a:bodyPr wrap="square" rtlCol="0" anchor="t"/>
          <a:lstStyle/>
          <a:p>
            <a:pPr indent="0" marL="0">
              <a:buNone/>
            </a:pPr>
            <a:r>
              <a:rPr lang="en-US" sz="1000" dirty="0">
                <a:solidFill>
                  <a:srgbClr val="1A1A2E"/>
                </a:solidFill>
                <a:latin typeface="Calibri" pitchFamily="34" charset="0"/>
                <a:ea typeface="Calibri" pitchFamily="34" charset="-122"/>
                <a:cs typeface="Calibri" pitchFamily="34" charset="-120"/>
              </a:rPr>
              <a:t>Generates synthetic pre-failure sensor data to fill gaps left by rare real failure events.</a:t>
            </a:r>
            <a:endParaRPr lang="en-US" sz="1000" dirty="0"/>
          </a:p>
        </p:txBody>
      </p:sp>
      <p:sp>
        <p:nvSpPr>
          <p:cNvPr id="14" name="Shape 11"/>
          <p:cNvSpPr/>
          <p:nvPr/>
        </p:nvSpPr>
        <p:spPr>
          <a:xfrm>
            <a:off x="6126480" y="3767328"/>
            <a:ext cx="2697480" cy="1115568"/>
          </a:xfrm>
          <a:prstGeom prst="rect">
            <a:avLst/>
          </a:prstGeom>
          <a:solidFill>
            <a:srgbClr val="D6E4F0"/>
          </a:solidFill>
          <a:ln w="12700">
            <a:solidFill>
              <a:srgbClr val="B8D0E8"/>
            </a:solidFill>
            <a:prstDash val="solid"/>
          </a:ln>
        </p:spPr>
      </p:sp>
      <p:sp>
        <p:nvSpPr>
          <p:cNvPr id="15" name="Text 12"/>
          <p:cNvSpPr/>
          <p:nvPr/>
        </p:nvSpPr>
        <p:spPr>
          <a:xfrm>
            <a:off x="6236208" y="3803904"/>
            <a:ext cx="2478024" cy="274320"/>
          </a:xfrm>
          <a:prstGeom prst="rect">
            <a:avLst/>
          </a:prstGeom>
          <a:noFill/>
          <a:ln/>
        </p:spPr>
        <p:txBody>
          <a:bodyPr wrap="square" lIns="0" tIns="0" rIns="0" bIns="0" rtlCol="0" anchor="ctr"/>
          <a:lstStyle/>
          <a:p>
            <a:pPr indent="0" marL="0">
              <a:buNone/>
            </a:pPr>
            <a:r>
              <a:rPr lang="en-US" sz="1100" b="1" dirty="0">
                <a:solidFill>
                  <a:srgbClr val="2E6DA4"/>
                </a:solidFill>
                <a:latin typeface="Calibri" pitchFamily="34" charset="0"/>
                <a:ea typeface="Calibri" pitchFamily="34" charset="-122"/>
                <a:cs typeface="Calibri" pitchFamily="34" charset="-120"/>
              </a:rPr>
              <a:t>Decision Agent</a:t>
            </a:r>
            <a:endParaRPr lang="en-US" sz="1100" dirty="0"/>
          </a:p>
        </p:txBody>
      </p:sp>
      <p:sp>
        <p:nvSpPr>
          <p:cNvPr id="16" name="Text 13"/>
          <p:cNvSpPr/>
          <p:nvPr/>
        </p:nvSpPr>
        <p:spPr>
          <a:xfrm>
            <a:off x="6236208" y="4114800"/>
            <a:ext cx="2478024" cy="713232"/>
          </a:xfrm>
          <a:prstGeom prst="rect">
            <a:avLst/>
          </a:prstGeom>
          <a:noFill/>
          <a:ln/>
        </p:spPr>
        <p:txBody>
          <a:bodyPr wrap="square" rtlCol="0" anchor="t"/>
          <a:lstStyle/>
          <a:p>
            <a:pPr indent="0" marL="0">
              <a:buNone/>
            </a:pPr>
            <a:r>
              <a:rPr lang="en-US" sz="1000" dirty="0">
                <a:solidFill>
                  <a:srgbClr val="1A1A2E"/>
                </a:solidFill>
                <a:latin typeface="Calibri" pitchFamily="34" charset="0"/>
                <a:ea typeface="Calibri" pitchFamily="34" charset="-122"/>
                <a:cs typeface="Calibri" pitchFamily="34" charset="-120"/>
              </a:rPr>
              <a:t>Combines rule-based triggers with a reinforcement learning policy for smarter responses over time.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365760" y="201168"/>
            <a:ext cx="2011680" cy="292608"/>
          </a:xfrm>
          <a:prstGeom prst="rect">
            <a:avLst/>
          </a:prstGeom>
          <a:solidFill>
            <a:srgbClr val="2E6DA4"/>
          </a:solidFill>
          <a:ln w="12700">
            <a:solidFill>
              <a:srgbClr val="2E6DA4"/>
            </a:solidFill>
            <a:prstDash val="solid"/>
          </a:ln>
        </p:spPr>
      </p:sp>
      <p:sp>
        <p:nvSpPr>
          <p:cNvPr id="3" name="Text 1"/>
          <p:cNvSpPr/>
          <p:nvPr/>
        </p:nvSpPr>
        <p:spPr>
          <a:xfrm>
            <a:off x="365760" y="201168"/>
            <a:ext cx="201168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SECURITY &amp; ETHICS</a:t>
            </a:r>
            <a:endParaRPr lang="en-US" sz="850" dirty="0"/>
          </a:p>
        </p:txBody>
      </p:sp>
      <p:sp>
        <p:nvSpPr>
          <p:cNvPr id="4" name="Text 2"/>
          <p:cNvSpPr/>
          <p:nvPr/>
        </p:nvSpPr>
        <p:spPr>
          <a:xfrm>
            <a:off x="365760" y="594360"/>
            <a:ext cx="8412480" cy="548640"/>
          </a:xfrm>
          <a:prstGeom prst="rect">
            <a:avLst/>
          </a:prstGeom>
          <a:noFill/>
          <a:ln/>
        </p:spPr>
        <p:txBody>
          <a:bodyPr wrap="square" rtlCol="0" anchor="ctr"/>
          <a:lstStyle/>
          <a:p>
            <a:pPr algn="l" indent="0" marL="0">
              <a:buNone/>
            </a:pPr>
            <a:r>
              <a:rPr lang="en-US" sz="2600" b="1" dirty="0">
                <a:solidFill>
                  <a:srgbClr val="1A1A2E"/>
                </a:solidFill>
                <a:latin typeface="Calibri" pitchFamily="34" charset="0"/>
                <a:ea typeface="Calibri" pitchFamily="34" charset="-122"/>
                <a:cs typeface="Calibri" pitchFamily="34" charset="-120"/>
              </a:rPr>
              <a:t>Security &amp; Ethical Considerations</a:t>
            </a:r>
            <a:endParaRPr lang="en-US" sz="2600" dirty="0"/>
          </a:p>
        </p:txBody>
      </p:sp>
      <p:sp>
        <p:nvSpPr>
          <p:cNvPr id="5" name="Shape 3"/>
          <p:cNvSpPr/>
          <p:nvPr/>
        </p:nvSpPr>
        <p:spPr>
          <a:xfrm>
            <a:off x="365760" y="1170432"/>
            <a:ext cx="8412480" cy="36576"/>
          </a:xfrm>
          <a:prstGeom prst="rect">
            <a:avLst/>
          </a:prstGeom>
          <a:solidFill>
            <a:srgbClr val="2E6DA4"/>
          </a:solidFill>
          <a:ln w="12700">
            <a:solidFill>
              <a:srgbClr val="2E6DA4"/>
            </a:solidFill>
            <a:prstDash val="solid"/>
          </a:ln>
        </p:spPr>
      </p:sp>
      <p:sp>
        <p:nvSpPr>
          <p:cNvPr id="6" name="Text 4"/>
          <p:cNvSpPr/>
          <p:nvPr/>
        </p:nvSpPr>
        <p:spPr>
          <a:xfrm>
            <a:off x="8412480" y="4754880"/>
            <a:ext cx="6400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 / 8</a:t>
            </a:r>
            <a:endParaRPr lang="en-US" sz="900" dirty="0"/>
          </a:p>
        </p:txBody>
      </p:sp>
      <p:sp>
        <p:nvSpPr>
          <p:cNvPr id="7" name="Shape 5"/>
          <p:cNvSpPr/>
          <p:nvPr/>
        </p:nvSpPr>
        <p:spPr>
          <a:xfrm>
            <a:off x="365760" y="1325880"/>
            <a:ext cx="4069080" cy="3520440"/>
          </a:xfrm>
          <a:prstGeom prst="rect">
            <a:avLst/>
          </a:prstGeom>
          <a:solidFill>
            <a:srgbClr val="FFFFFF"/>
          </a:solidFill>
          <a:ln w="12700">
            <a:solidFill>
              <a:srgbClr val="D0DCE8"/>
            </a:solidFill>
            <a:prstDash val="solid"/>
          </a:ln>
          <a:effectLst>
            <a:outerShdw sx="100000" sy="100000" kx="0" ky="0" algn="bl" rotWithShape="0" blurRad="101600" dist="38100" dir="8100000">
              <a:srgbClr val="000000">
                <a:alpha val="12000"/>
              </a:srgbClr>
            </a:outerShdw>
          </a:effectLst>
        </p:spPr>
      </p:sp>
      <p:sp>
        <p:nvSpPr>
          <p:cNvPr id="8" name="Shape 6"/>
          <p:cNvSpPr/>
          <p:nvPr/>
        </p:nvSpPr>
        <p:spPr>
          <a:xfrm>
            <a:off x="365760" y="1325880"/>
            <a:ext cx="4069080" cy="109728"/>
          </a:xfrm>
          <a:prstGeom prst="rect">
            <a:avLst/>
          </a:prstGeom>
          <a:solidFill>
            <a:srgbClr val="2E6DA4"/>
          </a:solidFill>
          <a:ln w="12700">
            <a:solidFill>
              <a:srgbClr val="2E6DA4"/>
            </a:solidFill>
            <a:prstDash val="solid"/>
          </a:ln>
        </p:spPr>
      </p:sp>
      <p:sp>
        <p:nvSpPr>
          <p:cNvPr id="9" name="Text 7"/>
          <p:cNvSpPr/>
          <p:nvPr/>
        </p:nvSpPr>
        <p:spPr>
          <a:xfrm>
            <a:off x="502920" y="1481328"/>
            <a:ext cx="3794760" cy="365760"/>
          </a:xfrm>
          <a:prstGeom prst="rect">
            <a:avLst/>
          </a:prstGeom>
          <a:noFill/>
          <a:ln/>
        </p:spPr>
        <p:txBody>
          <a:bodyPr wrap="square"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Security Measures</a:t>
            </a:r>
            <a:endParaRPr lang="en-US" sz="1400" dirty="0"/>
          </a:p>
        </p:txBody>
      </p:sp>
      <p:sp>
        <p:nvSpPr>
          <p:cNvPr id="10" name="Text 8"/>
          <p:cNvSpPr/>
          <p:nvPr/>
        </p:nvSpPr>
        <p:spPr>
          <a:xfrm>
            <a:off x="502920" y="1920240"/>
            <a:ext cx="3794760" cy="2743200"/>
          </a:xfrm>
          <a:prstGeom prst="rect">
            <a:avLst/>
          </a:prstGeom>
          <a:noFill/>
          <a:ln/>
        </p:spPr>
        <p:txBody>
          <a:bodyPr wrap="square" rtlCol="0" anchor="t"/>
          <a:lstStyle/>
          <a:p>
            <a:pPr indent="0" marL="0">
              <a:buNone/>
            </a:pPr>
            <a:r>
              <a:rPr lang="en-US" sz="1200" b="1" dirty="0">
                <a:solidFill>
                  <a:srgbClr val="374151"/>
                </a:solidFill>
                <a:latin typeface="Calibri" pitchFamily="34" charset="0"/>
                <a:ea typeface="Calibri" pitchFamily="34" charset="-122"/>
                <a:cs typeface="Calibri" pitchFamily="34" charset="-120"/>
              </a:rPr>
              <a:t>TLS encryption</a:t>
            </a:r>
            <a:pPr indent="0" marL="0">
              <a:buNone/>
            </a:pPr>
            <a:r>
              <a:rPr lang="en-US" sz="1200" dirty="0">
                <a:solidFill>
                  <a:srgbClr val="374151"/>
                </a:solidFill>
                <a:latin typeface="Calibri" pitchFamily="34" charset="0"/>
                <a:ea typeface="Calibri" pitchFamily="34" charset="-122"/>
                <a:cs typeface="Calibri" pitchFamily="34" charset="-120"/>
              </a:rPr>
              <a:t> on all communication channels between sensors, edge, and cloud.</a:t>
            </a:r>
            <a:endParaRPr lang="en-US" sz="1200" dirty="0"/>
          </a:p>
          <a:p>
            <a:pPr indent="0" marL="0">
              <a:buNone/>
            </a:pPr>
            <a:r>
              <a:rPr lang="en-US" sz="1200" dirty="0">
                <a:solidFill>
                  <a:srgbClr val="374151"/>
                </a:solidFill>
                <a:latin typeface="Calibri" pitchFamily="34" charset="0"/>
                <a:ea typeface="Calibri" pitchFamily="34" charset="-122"/>
                <a:cs typeface="Calibri" pitchFamily="34" charset="-120"/>
              </a:rPr>
              <a:t>
</a:t>
            </a:r>
            <a:pPr indent="0" marL="0">
              <a:buNone/>
            </a:pPr>
            <a:r>
              <a:rPr lang="en-US" sz="1200" b="1" dirty="0">
                <a:solidFill>
                  <a:srgbClr val="374151"/>
                </a:solidFill>
                <a:latin typeface="Calibri" pitchFamily="34" charset="0"/>
                <a:ea typeface="Calibri" pitchFamily="34" charset="-122"/>
                <a:cs typeface="Calibri" pitchFamily="34" charset="-120"/>
              </a:rPr>
              <a:t>Device certificates</a:t>
            </a:r>
            <a:pPr indent="0" marL="0">
              <a:buNone/>
            </a:pPr>
            <a:r>
              <a:rPr lang="en-US" sz="1200" dirty="0">
                <a:solidFill>
                  <a:srgbClr val="374151"/>
                </a:solidFill>
                <a:latin typeface="Calibri" pitchFamily="34" charset="0"/>
                <a:ea typeface="Calibri" pitchFamily="34" charset="-122"/>
                <a:cs typeface="Calibri" pitchFamily="34" charset="-120"/>
              </a:rPr>
              <a:t> so only verified hardware can send data through.</a:t>
            </a:r>
            <a:endParaRPr lang="en-US" sz="1200" dirty="0"/>
          </a:p>
          <a:p>
            <a:pPr indent="0" marL="0">
              <a:buNone/>
            </a:pPr>
            <a:r>
              <a:rPr lang="en-US" sz="1200" dirty="0">
                <a:solidFill>
                  <a:srgbClr val="374151"/>
                </a:solidFill>
                <a:latin typeface="Calibri" pitchFamily="34" charset="0"/>
                <a:ea typeface="Calibri" pitchFamily="34" charset="-122"/>
                <a:cs typeface="Calibri" pitchFamily="34" charset="-120"/>
              </a:rPr>
              <a:t>
</a:t>
            </a:r>
            <a:pPr indent="0" marL="0">
              <a:buNone/>
            </a:pPr>
            <a:r>
              <a:rPr lang="en-US" sz="1200" b="1" dirty="0">
                <a:solidFill>
                  <a:srgbClr val="374151"/>
                </a:solidFill>
                <a:latin typeface="Calibri" pitchFamily="34" charset="0"/>
                <a:ea typeface="Calibri" pitchFamily="34" charset="-122"/>
                <a:cs typeface="Calibri" pitchFamily="34" charset="-120"/>
              </a:rPr>
              <a:t>Role-based dashboard access</a:t>
            </a:r>
            <a:pPr indent="0" marL="0">
              <a:buNone/>
            </a:pPr>
            <a:r>
              <a:rPr lang="en-US" sz="1200" dirty="0">
                <a:solidFill>
                  <a:srgbClr val="374151"/>
                </a:solidFill>
                <a:latin typeface="Calibri" pitchFamily="34" charset="0"/>
                <a:ea typeface="Calibri" pitchFamily="34" charset="-122"/>
                <a:cs typeface="Calibri" pitchFamily="34" charset="-120"/>
              </a:rPr>
              <a:t> — each user sees only what their role allows.</a:t>
            </a:r>
            <a:endParaRPr lang="en-US" sz="1200" dirty="0"/>
          </a:p>
          <a:p>
            <a:pPr indent="0" marL="0">
              <a:buNone/>
            </a:pPr>
            <a:r>
              <a:rPr lang="en-US" sz="1200" dirty="0">
                <a:solidFill>
                  <a:srgbClr val="374151"/>
                </a:solidFill>
                <a:latin typeface="Calibri" pitchFamily="34" charset="0"/>
                <a:ea typeface="Calibri" pitchFamily="34" charset="-122"/>
                <a:cs typeface="Calibri" pitchFamily="34" charset="-120"/>
              </a:rPr>
              <a:t>
</a:t>
            </a:r>
            <a:pPr indent="0" marL="0">
              <a:buNone/>
            </a:pPr>
            <a:r>
              <a:rPr lang="en-US" sz="1200" b="1" dirty="0">
                <a:solidFill>
                  <a:srgbClr val="374151"/>
                </a:solidFill>
                <a:latin typeface="Calibri" pitchFamily="34" charset="0"/>
                <a:ea typeface="Calibri" pitchFamily="34" charset="-122"/>
                <a:cs typeface="Calibri" pitchFamily="34" charset="-120"/>
              </a:rPr>
              <a:t>Network traffic monitoring</a:t>
            </a:r>
            <a:pPr indent="0" marL="0">
              <a:buNone/>
            </a:pPr>
            <a:r>
              <a:rPr lang="en-US" sz="1200" dirty="0">
                <a:solidFill>
                  <a:srgbClr val="374151"/>
                </a:solidFill>
                <a:latin typeface="Calibri" pitchFamily="34" charset="0"/>
                <a:ea typeface="Calibri" pitchFamily="34" charset="-122"/>
                <a:cs typeface="Calibri" pitchFamily="34" charset="-120"/>
              </a:rPr>
              <a:t> for unusual activity on top of standard login checks.</a:t>
            </a:r>
            <a:endParaRPr lang="en-US" sz="1200" dirty="0"/>
          </a:p>
        </p:txBody>
      </p:sp>
      <p:sp>
        <p:nvSpPr>
          <p:cNvPr id="11" name="Shape 9"/>
          <p:cNvSpPr/>
          <p:nvPr/>
        </p:nvSpPr>
        <p:spPr>
          <a:xfrm>
            <a:off x="4709160" y="1325880"/>
            <a:ext cx="4069080" cy="3520440"/>
          </a:xfrm>
          <a:prstGeom prst="rect">
            <a:avLst/>
          </a:prstGeom>
          <a:solidFill>
            <a:srgbClr val="FFFFFF"/>
          </a:solidFill>
          <a:ln w="12700">
            <a:solidFill>
              <a:srgbClr val="D0DCE8"/>
            </a:solidFill>
            <a:prstDash val="solid"/>
          </a:ln>
          <a:effectLst>
            <a:outerShdw sx="100000" sy="100000" kx="0" ky="0" algn="bl" rotWithShape="0" blurRad="101600" dist="38100" dir="8100000">
              <a:srgbClr val="000000">
                <a:alpha val="12000"/>
              </a:srgbClr>
            </a:outerShdw>
          </a:effectLst>
        </p:spPr>
      </p:sp>
      <p:sp>
        <p:nvSpPr>
          <p:cNvPr id="12" name="Shape 10"/>
          <p:cNvSpPr/>
          <p:nvPr/>
        </p:nvSpPr>
        <p:spPr>
          <a:xfrm>
            <a:off x="4709160" y="1325880"/>
            <a:ext cx="4069080" cy="109728"/>
          </a:xfrm>
          <a:prstGeom prst="rect">
            <a:avLst/>
          </a:prstGeom>
          <a:solidFill>
            <a:srgbClr val="1B2A4A"/>
          </a:solidFill>
          <a:ln w="12700">
            <a:solidFill>
              <a:srgbClr val="1B2A4A"/>
            </a:solidFill>
            <a:prstDash val="solid"/>
          </a:ln>
        </p:spPr>
      </p:sp>
      <p:sp>
        <p:nvSpPr>
          <p:cNvPr id="13" name="Text 11"/>
          <p:cNvSpPr/>
          <p:nvPr/>
        </p:nvSpPr>
        <p:spPr>
          <a:xfrm>
            <a:off x="4846320" y="1481328"/>
            <a:ext cx="3794760" cy="365760"/>
          </a:xfrm>
          <a:prstGeom prst="rect">
            <a:avLst/>
          </a:prstGeom>
          <a:noFill/>
          <a:ln/>
        </p:spPr>
        <p:txBody>
          <a:bodyPr wrap="square"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Ethical Risks</a:t>
            </a:r>
            <a:endParaRPr lang="en-US" sz="1400" dirty="0"/>
          </a:p>
        </p:txBody>
      </p:sp>
      <p:sp>
        <p:nvSpPr>
          <p:cNvPr id="14" name="Text 12"/>
          <p:cNvSpPr/>
          <p:nvPr/>
        </p:nvSpPr>
        <p:spPr>
          <a:xfrm>
            <a:off x="4846320" y="1920240"/>
            <a:ext cx="3794760" cy="2743200"/>
          </a:xfrm>
          <a:prstGeom prst="rect">
            <a:avLst/>
          </a:prstGeom>
          <a:noFill/>
          <a:ln/>
        </p:spPr>
        <p:txBody>
          <a:bodyPr wrap="square" rtlCol="0" anchor="t"/>
          <a:lstStyle/>
          <a:p>
            <a:pPr indent="0" marL="0">
              <a:buNone/>
            </a:pPr>
            <a:r>
              <a:rPr lang="en-US" sz="1200" b="1" dirty="0">
                <a:solidFill>
                  <a:srgbClr val="374151"/>
                </a:solidFill>
                <a:latin typeface="Calibri" pitchFamily="34" charset="0"/>
                <a:ea typeface="Calibri" pitchFamily="34" charset="-122"/>
                <a:cs typeface="Calibri" pitchFamily="34" charset="-120"/>
              </a:rPr>
              <a:t>False Positives:</a:t>
            </a:r>
            <a:endParaRPr lang="en-US" sz="1200" dirty="0"/>
          </a:p>
          <a:p>
            <a:pPr indent="0" marL="0">
              <a:buNone/>
            </a:pPr>
            <a:r>
              <a:rPr lang="en-US" sz="1200" dirty="0">
                <a:solidFill>
                  <a:srgbClr val="374151"/>
                </a:solidFill>
                <a:latin typeface="Calibri" pitchFamily="34" charset="0"/>
                <a:ea typeface="Calibri" pitchFamily="34" charset="-122"/>
                <a:cs typeface="Calibri" pitchFamily="34" charset="-120"/>
              </a:rPr>
              <a:t>Sending a technician to a machine that is fine wastes time and disrupts production.</a:t>
            </a:r>
            <a:endParaRPr lang="en-US" sz="1200" dirty="0"/>
          </a:p>
          <a:p>
            <a:pPr indent="0" marL="0">
              <a:buNone/>
            </a:pPr>
            <a:r>
              <a:rPr lang="en-US" sz="1200" dirty="0">
                <a:solidFill>
                  <a:srgbClr val="374151"/>
                </a:solidFill>
                <a:latin typeface="Calibri" pitchFamily="34" charset="0"/>
                <a:ea typeface="Calibri" pitchFamily="34" charset="-122"/>
                <a:cs typeface="Calibri" pitchFamily="34" charset="-120"/>
              </a:rPr>
              <a:t>
</a:t>
            </a:r>
            <a:pPr indent="0" marL="0">
              <a:buNone/>
            </a:pPr>
            <a:r>
              <a:rPr lang="en-US" sz="1200" b="1" dirty="0">
                <a:solidFill>
                  <a:srgbClr val="374151"/>
                </a:solidFill>
                <a:latin typeface="Calibri" pitchFamily="34" charset="0"/>
                <a:ea typeface="Calibri" pitchFamily="34" charset="-122"/>
                <a:cs typeface="Calibri" pitchFamily="34" charset="-120"/>
              </a:rPr>
              <a:t>False Negatives:</a:t>
            </a:r>
            <a:endParaRPr lang="en-US" sz="1200" dirty="0"/>
          </a:p>
          <a:p>
            <a:pPr indent="0" marL="0">
              <a:buNone/>
            </a:pPr>
            <a:r>
              <a:rPr lang="en-US" sz="1200" dirty="0">
                <a:solidFill>
                  <a:srgbClr val="374151"/>
                </a:solidFill>
                <a:latin typeface="Calibri" pitchFamily="34" charset="0"/>
                <a:ea typeface="Calibri" pitchFamily="34" charset="-122"/>
                <a:cs typeface="Calibri" pitchFamily="34" charset="-120"/>
              </a:rPr>
              <a:t>Missing a real warning leads to a failure that could have been prevented.</a:t>
            </a:r>
            <a:endParaRPr lang="en-US" sz="1200" dirty="0"/>
          </a:p>
          <a:p>
            <a:pPr indent="0" marL="0">
              <a:buNone/>
            </a:pPr>
            <a:r>
              <a:rPr lang="en-US" sz="1200" dirty="0">
                <a:solidFill>
                  <a:srgbClr val="374151"/>
                </a:solidFill>
                <a:latin typeface="Calibri" pitchFamily="34" charset="0"/>
                <a:ea typeface="Calibri" pitchFamily="34" charset="-122"/>
                <a:cs typeface="Calibri" pitchFamily="34" charset="-120"/>
              </a:rPr>
              <a:t>
</a:t>
            </a:r>
            <a:pPr indent="0" marL="0">
              <a:buNone/>
            </a:pPr>
            <a:r>
              <a:rPr lang="en-US" sz="1200" b="1" dirty="0">
                <a:solidFill>
                  <a:srgbClr val="374151"/>
                </a:solidFill>
                <a:latin typeface="Calibri" pitchFamily="34" charset="0"/>
                <a:ea typeface="Calibri" pitchFamily="34" charset="-122"/>
                <a:cs typeface="Calibri" pitchFamily="34" charset="-120"/>
              </a:rPr>
              <a:t>Training Bias:</a:t>
            </a:r>
            <a:endParaRPr lang="en-US" sz="1200" dirty="0"/>
          </a:p>
          <a:p>
            <a:pPr indent="0" marL="0">
              <a:buNone/>
            </a:pPr>
            <a:r>
              <a:rPr lang="en-US" sz="1200" dirty="0">
                <a:solidFill>
                  <a:srgbClr val="374151"/>
                </a:solidFill>
                <a:latin typeface="Calibri" pitchFamily="34" charset="0"/>
                <a:ea typeface="Calibri" pitchFamily="34" charset="-122"/>
                <a:cs typeface="Calibri" pitchFamily="34" charset="-120"/>
              </a:rPr>
              <a:t>GAN data may only cover narrow failure types, creating blind spots. Regular retraining on real data reduces this.</a:t>
            </a:r>
            <a:endParaRPr lang="en-US" sz="1200" dirty="0"/>
          </a:p>
          <a:p>
            <a:pPr indent="0" marL="0">
              <a:buNone/>
            </a:pPr>
            <a:r>
              <a:rPr lang="en-US" sz="1200" dirty="0">
                <a:solidFill>
                  <a:srgbClr val="374151"/>
                </a:solidFill>
                <a:latin typeface="Calibri" pitchFamily="34" charset="0"/>
                <a:ea typeface="Calibri" pitchFamily="34" charset="-122"/>
                <a:cs typeface="Calibri" pitchFamily="34" charset="-120"/>
              </a:rPr>
              <a:t>
</a:t>
            </a:r>
            <a:pPr indent="0" marL="0">
              <a:buNone/>
            </a:pPr>
            <a:r>
              <a:rPr lang="en-US" sz="1200" b="1" dirty="0">
                <a:solidFill>
                  <a:srgbClr val="374151"/>
                </a:solidFill>
                <a:latin typeface="Calibri" pitchFamily="34" charset="0"/>
                <a:ea typeface="Calibri" pitchFamily="34" charset="-122"/>
                <a:cs typeface="Calibri" pitchFamily="34" charset="-120"/>
              </a:rPr>
              <a:t>Transparency:</a:t>
            </a:r>
            <a:pPr indent="0" marL="0">
              <a:buNone/>
            </a:pPr>
            <a:r>
              <a:rPr lang="en-US" sz="1200" dirty="0">
                <a:solidFill>
                  <a:srgbClr val="374151"/>
                </a:solidFill>
                <a:latin typeface="Calibri" pitchFamily="34" charset="0"/>
                <a:ea typeface="Calibri" pitchFamily="34" charset="-122"/>
                <a:cs typeface="Calibri" pitchFamily="34" charset="-120"/>
              </a:rPr>
              <a:t> Alerts must show reasoning so staff can judge how much to rely on them.</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365760" y="201168"/>
            <a:ext cx="2011680" cy="292608"/>
          </a:xfrm>
          <a:prstGeom prst="rect">
            <a:avLst/>
          </a:prstGeom>
          <a:solidFill>
            <a:srgbClr val="2E6DA4"/>
          </a:solidFill>
          <a:ln w="12700">
            <a:solidFill>
              <a:srgbClr val="2E6DA4"/>
            </a:solidFill>
            <a:prstDash val="solid"/>
          </a:ln>
        </p:spPr>
      </p:sp>
      <p:sp>
        <p:nvSpPr>
          <p:cNvPr id="3" name="Text 1"/>
          <p:cNvSpPr/>
          <p:nvPr/>
        </p:nvSpPr>
        <p:spPr>
          <a:xfrm>
            <a:off x="365760" y="201168"/>
            <a:ext cx="201168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TESTING</a:t>
            </a:r>
            <a:endParaRPr lang="en-US" sz="850" dirty="0"/>
          </a:p>
        </p:txBody>
      </p:sp>
      <p:sp>
        <p:nvSpPr>
          <p:cNvPr id="4" name="Text 2"/>
          <p:cNvSpPr/>
          <p:nvPr/>
        </p:nvSpPr>
        <p:spPr>
          <a:xfrm>
            <a:off x="365760" y="594360"/>
            <a:ext cx="8412480" cy="548640"/>
          </a:xfrm>
          <a:prstGeom prst="rect">
            <a:avLst/>
          </a:prstGeom>
          <a:noFill/>
          <a:ln/>
        </p:spPr>
        <p:txBody>
          <a:bodyPr wrap="square" rtlCol="0" anchor="ctr"/>
          <a:lstStyle/>
          <a:p>
            <a:pPr algn="l" indent="0" marL="0">
              <a:buNone/>
            </a:pPr>
            <a:r>
              <a:rPr lang="en-US" sz="2600" b="1" dirty="0">
                <a:solidFill>
                  <a:srgbClr val="1A1A2E"/>
                </a:solidFill>
                <a:latin typeface="Calibri" pitchFamily="34" charset="0"/>
                <a:ea typeface="Calibri" pitchFamily="34" charset="-122"/>
                <a:cs typeface="Calibri" pitchFamily="34" charset="-120"/>
              </a:rPr>
              <a:t>Implementation &amp; Testing Plan</a:t>
            </a:r>
            <a:endParaRPr lang="en-US" sz="2600" dirty="0"/>
          </a:p>
        </p:txBody>
      </p:sp>
      <p:sp>
        <p:nvSpPr>
          <p:cNvPr id="5" name="Shape 3"/>
          <p:cNvSpPr/>
          <p:nvPr/>
        </p:nvSpPr>
        <p:spPr>
          <a:xfrm>
            <a:off x="365760" y="1170432"/>
            <a:ext cx="8412480" cy="36576"/>
          </a:xfrm>
          <a:prstGeom prst="rect">
            <a:avLst/>
          </a:prstGeom>
          <a:solidFill>
            <a:srgbClr val="2E6DA4"/>
          </a:solidFill>
          <a:ln w="12700">
            <a:solidFill>
              <a:srgbClr val="2E6DA4"/>
            </a:solidFill>
            <a:prstDash val="solid"/>
          </a:ln>
        </p:spPr>
      </p:sp>
      <p:sp>
        <p:nvSpPr>
          <p:cNvPr id="6" name="Text 4"/>
          <p:cNvSpPr/>
          <p:nvPr/>
        </p:nvSpPr>
        <p:spPr>
          <a:xfrm>
            <a:off x="8412480" y="4754880"/>
            <a:ext cx="6400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 / 8</a:t>
            </a:r>
            <a:endParaRPr lang="en-US" sz="900" dirty="0"/>
          </a:p>
        </p:txBody>
      </p:sp>
      <p:sp>
        <p:nvSpPr>
          <p:cNvPr id="7" name="Text 5"/>
          <p:cNvSpPr/>
          <p:nvPr/>
        </p:nvSpPr>
        <p:spPr>
          <a:xfrm>
            <a:off x="365760" y="1298448"/>
            <a:ext cx="3840480" cy="320040"/>
          </a:xfrm>
          <a:prstGeom prst="rect">
            <a:avLst/>
          </a:prstGeom>
          <a:noFill/>
          <a:ln/>
        </p:spPr>
        <p:txBody>
          <a:bodyPr wrap="square" rtlCol="0" anchor="ctr"/>
          <a:lstStyle/>
          <a:p>
            <a:pPr indent="0" marL="0">
              <a:buNone/>
            </a:pPr>
            <a:r>
              <a:rPr lang="en-US" sz="1300" b="1" dirty="0">
                <a:solidFill>
                  <a:srgbClr val="2E6DA4"/>
                </a:solidFill>
                <a:latin typeface="Calibri" pitchFamily="34" charset="0"/>
                <a:ea typeface="Calibri" pitchFamily="34" charset="-122"/>
                <a:cs typeface="Calibri" pitchFamily="34" charset="-120"/>
              </a:rPr>
              <a:t>If Built Out — Deployment Steps:</a:t>
            </a:r>
            <a:endParaRPr lang="en-US" sz="1300" dirty="0"/>
          </a:p>
        </p:txBody>
      </p:sp>
      <p:sp>
        <p:nvSpPr>
          <p:cNvPr id="8" name="Text 6"/>
          <p:cNvSpPr/>
          <p:nvPr/>
        </p:nvSpPr>
        <p:spPr>
          <a:xfrm>
            <a:off x="365760" y="1691640"/>
            <a:ext cx="3931920" cy="2468880"/>
          </a:xfrm>
          <a:prstGeom prst="rect">
            <a:avLst/>
          </a:prstGeom>
          <a:noFill/>
          <a:ln/>
        </p:spPr>
        <p:txBody>
          <a:bodyPr wrap="square" rtlCol="0" anchor="t"/>
          <a:lstStyle/>
          <a:p>
            <a:pPr indent="0" marL="0">
              <a:buNone/>
            </a:pPr>
            <a:r>
              <a:rPr lang="en-US" sz="1200" dirty="0">
                <a:solidFill>
                  <a:srgbClr val="1A1A2E"/>
                </a:solidFill>
                <a:latin typeface="Calibri" pitchFamily="34" charset="0"/>
                <a:ea typeface="Calibri" pitchFamily="34" charset="-122"/>
                <a:cs typeface="Calibri" pitchFamily="34" charset="-120"/>
              </a:rPr>
              <a:t>1.  Train GAN in Google Colab on normal and near-failure sensor data.</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
</a:t>
            </a:r>
            <a:pPr indent="0" marL="0">
              <a:buNone/>
            </a:pPr>
            <a:r>
              <a:rPr lang="en-US" sz="1200" dirty="0">
                <a:solidFill>
                  <a:srgbClr val="1A1A2E"/>
                </a:solidFill>
                <a:latin typeface="Calibri" pitchFamily="34" charset="0"/>
                <a:ea typeface="Calibri" pitchFamily="34" charset="-122"/>
                <a:cs typeface="Calibri" pitchFamily="34" charset="-120"/>
              </a:rPr>
              <a:t>2.  Export autoencoder as a TensorFlow Lite model for the edge device.</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
</a:t>
            </a:r>
            <a:pPr indent="0" marL="0">
              <a:buNone/>
            </a:pPr>
            <a:r>
              <a:rPr lang="en-US" sz="1200" dirty="0">
                <a:solidFill>
                  <a:srgbClr val="1A1A2E"/>
                </a:solidFill>
                <a:latin typeface="Calibri" pitchFamily="34" charset="0"/>
                <a:ea typeface="Calibri" pitchFamily="34" charset="-122"/>
                <a:cs typeface="Calibri" pitchFamily="34" charset="-120"/>
              </a:rPr>
              <a:t>3.  Set up Node-RED on the gateway for the full MQTT data pipeline.</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
</a:t>
            </a:r>
            <a:pPr indent="0" marL="0">
              <a:buNone/>
            </a:pPr>
            <a:r>
              <a:rPr lang="en-US" sz="1200" dirty="0">
                <a:solidFill>
                  <a:srgbClr val="1A1A2E"/>
                </a:solidFill>
                <a:latin typeface="Calibri" pitchFamily="34" charset="0"/>
                <a:ea typeface="Calibri" pitchFamily="34" charset="-122"/>
                <a:cs typeface="Calibri" pitchFamily="34" charset="-120"/>
              </a:rPr>
              <a:t>4.  Connect to ThingsBoard, configure alert thresholds and staff notifications.</a:t>
            </a:r>
            <a:endParaRPr lang="en-US" sz="1200" dirty="0"/>
          </a:p>
        </p:txBody>
      </p:sp>
      <p:pic>
        <p:nvPicPr>
          <p:cNvPr id="9" name="Image 0" descr="/home/claude/diagram_testing.png">    </p:cNvPr>
          <p:cNvPicPr>
            <a:picLocks noChangeAspect="1"/>
          </p:cNvPicPr>
          <p:nvPr/>
        </p:nvPicPr>
        <p:blipFill>
          <a:blip r:embed="rId1"/>
          <a:stretch>
            <a:fillRect/>
          </a:stretch>
        </p:blipFill>
        <p:spPr>
          <a:xfrm>
            <a:off x="228600" y="3246120"/>
            <a:ext cx="8503920" cy="1600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365760" y="201168"/>
            <a:ext cx="2011680" cy="292608"/>
          </a:xfrm>
          <a:prstGeom prst="rect">
            <a:avLst/>
          </a:prstGeom>
          <a:solidFill>
            <a:srgbClr val="2E6DA4"/>
          </a:solidFill>
          <a:ln w="12700">
            <a:solidFill>
              <a:srgbClr val="2E6DA4"/>
            </a:solidFill>
            <a:prstDash val="solid"/>
          </a:ln>
        </p:spPr>
      </p:sp>
      <p:sp>
        <p:nvSpPr>
          <p:cNvPr id="3" name="Text 1"/>
          <p:cNvSpPr/>
          <p:nvPr/>
        </p:nvSpPr>
        <p:spPr>
          <a:xfrm>
            <a:off x="365760" y="201168"/>
            <a:ext cx="201168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REFLECTION</a:t>
            </a:r>
            <a:endParaRPr lang="en-US" sz="850" dirty="0"/>
          </a:p>
        </p:txBody>
      </p:sp>
      <p:sp>
        <p:nvSpPr>
          <p:cNvPr id="4" name="Text 2"/>
          <p:cNvSpPr/>
          <p:nvPr/>
        </p:nvSpPr>
        <p:spPr>
          <a:xfrm>
            <a:off x="365760" y="594360"/>
            <a:ext cx="8412480" cy="548640"/>
          </a:xfrm>
          <a:prstGeom prst="rect">
            <a:avLst/>
          </a:prstGeom>
          <a:noFill/>
          <a:ln/>
        </p:spPr>
        <p:txBody>
          <a:bodyPr wrap="square" rtlCol="0" anchor="ctr"/>
          <a:lstStyle/>
          <a:p>
            <a:pPr algn="l" indent="0" marL="0">
              <a:buNone/>
            </a:pPr>
            <a:r>
              <a:rPr lang="en-US" sz="2600" b="1" dirty="0">
                <a:solidFill>
                  <a:srgbClr val="1A1A2E"/>
                </a:solidFill>
                <a:latin typeface="Calibri" pitchFamily="34" charset="0"/>
                <a:ea typeface="Calibri" pitchFamily="34" charset="-122"/>
                <a:cs typeface="Calibri" pitchFamily="34" charset="-120"/>
              </a:rPr>
              <a:t>Challenges, Trade-offs &amp; Lessons Learned</a:t>
            </a:r>
            <a:endParaRPr lang="en-US" sz="2600" dirty="0"/>
          </a:p>
        </p:txBody>
      </p:sp>
      <p:sp>
        <p:nvSpPr>
          <p:cNvPr id="5" name="Shape 3"/>
          <p:cNvSpPr/>
          <p:nvPr/>
        </p:nvSpPr>
        <p:spPr>
          <a:xfrm>
            <a:off x="365760" y="1170432"/>
            <a:ext cx="8412480" cy="36576"/>
          </a:xfrm>
          <a:prstGeom prst="rect">
            <a:avLst/>
          </a:prstGeom>
          <a:solidFill>
            <a:srgbClr val="2E6DA4"/>
          </a:solidFill>
          <a:ln w="12700">
            <a:solidFill>
              <a:srgbClr val="2E6DA4"/>
            </a:solidFill>
            <a:prstDash val="solid"/>
          </a:ln>
        </p:spPr>
      </p:sp>
      <p:sp>
        <p:nvSpPr>
          <p:cNvPr id="6" name="Text 4"/>
          <p:cNvSpPr/>
          <p:nvPr/>
        </p:nvSpPr>
        <p:spPr>
          <a:xfrm>
            <a:off x="8412480" y="4754880"/>
            <a:ext cx="64008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 / 8</a:t>
            </a:r>
            <a:endParaRPr lang="en-US" sz="900" dirty="0"/>
          </a:p>
        </p:txBody>
      </p:sp>
      <p:sp>
        <p:nvSpPr>
          <p:cNvPr id="7" name="Shape 5"/>
          <p:cNvSpPr/>
          <p:nvPr/>
        </p:nvSpPr>
        <p:spPr>
          <a:xfrm>
            <a:off x="365760" y="1325880"/>
            <a:ext cx="8412480" cy="1078992"/>
          </a:xfrm>
          <a:prstGeom prst="rect">
            <a:avLst/>
          </a:prstGeom>
          <a:solidFill>
            <a:srgbClr val="FFFFFF"/>
          </a:solidFill>
          <a:ln w="12700">
            <a:solidFill>
              <a:srgbClr val="D0DCE8"/>
            </a:solidFill>
            <a:prstDash val="solid"/>
          </a:ln>
          <a:effectLst>
            <a:outerShdw sx="100000" sy="100000" kx="0" ky="0" algn="bl" rotWithShape="0" blurRad="101600" dist="38100" dir="8100000">
              <a:srgbClr val="000000">
                <a:alpha val="12000"/>
              </a:srgbClr>
            </a:outerShdw>
          </a:effectLst>
        </p:spPr>
      </p:sp>
      <p:sp>
        <p:nvSpPr>
          <p:cNvPr id="8" name="Shape 6"/>
          <p:cNvSpPr/>
          <p:nvPr/>
        </p:nvSpPr>
        <p:spPr>
          <a:xfrm>
            <a:off x="365760" y="1325880"/>
            <a:ext cx="640080" cy="1078992"/>
          </a:xfrm>
          <a:prstGeom prst="rect">
            <a:avLst/>
          </a:prstGeom>
          <a:solidFill>
            <a:srgbClr val="2E6DA4"/>
          </a:solidFill>
          <a:ln w="12700">
            <a:solidFill>
              <a:srgbClr val="2E6DA4"/>
            </a:solidFill>
            <a:prstDash val="solid"/>
          </a:ln>
        </p:spPr>
      </p:sp>
      <p:sp>
        <p:nvSpPr>
          <p:cNvPr id="9" name="Text 7"/>
          <p:cNvSpPr/>
          <p:nvPr/>
        </p:nvSpPr>
        <p:spPr>
          <a:xfrm>
            <a:off x="365760" y="1325880"/>
            <a:ext cx="640080" cy="107899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01</a:t>
            </a:r>
            <a:endParaRPr lang="en-US" sz="1800" dirty="0"/>
          </a:p>
        </p:txBody>
      </p:sp>
      <p:sp>
        <p:nvSpPr>
          <p:cNvPr id="10" name="Text 8"/>
          <p:cNvSpPr/>
          <p:nvPr/>
        </p:nvSpPr>
        <p:spPr>
          <a:xfrm>
            <a:off x="1143000" y="1417320"/>
            <a:ext cx="7223760" cy="292608"/>
          </a:xfrm>
          <a:prstGeom prst="rect">
            <a:avLst/>
          </a:prstGeom>
          <a:noFill/>
          <a:ln/>
        </p:spPr>
        <p:txBody>
          <a:bodyPr wrap="square"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Synthetic Data Dependency</a:t>
            </a:r>
            <a:endParaRPr lang="en-US" sz="1300" dirty="0"/>
          </a:p>
        </p:txBody>
      </p:sp>
      <p:sp>
        <p:nvSpPr>
          <p:cNvPr id="11" name="Text 9"/>
          <p:cNvSpPr/>
          <p:nvPr/>
        </p:nvSpPr>
        <p:spPr>
          <a:xfrm>
            <a:off x="1143000" y="1709928"/>
            <a:ext cx="7223760" cy="621792"/>
          </a:xfrm>
          <a:prstGeom prst="rect">
            <a:avLst/>
          </a:prstGeom>
          <a:noFill/>
          <a:ln/>
        </p:spPr>
        <p:txBody>
          <a:bodyPr wrap="square" rtlCol="0" anchor="t"/>
          <a:lstStyle/>
          <a:p>
            <a:pPr indent="0" marL="0">
              <a:buNone/>
            </a:pPr>
            <a:r>
              <a:rPr lang="en-US" sz="1150" dirty="0">
                <a:solidFill>
                  <a:srgbClr val="374151"/>
                </a:solidFill>
                <a:latin typeface="Calibri" pitchFamily="34" charset="0"/>
                <a:ea typeface="Calibri" pitchFamily="34" charset="-122"/>
                <a:cs typeface="Calibri" pitchFamily="34" charset="-120"/>
              </a:rPr>
              <a:t>The GAN fills in for missing real failure data but risks teaching the agent patterns that do not match how equipment actually breaks down. The system has to keep improving as real data builds up over time.</a:t>
            </a:r>
            <a:endParaRPr lang="en-US" sz="1150" dirty="0"/>
          </a:p>
        </p:txBody>
      </p:sp>
      <p:sp>
        <p:nvSpPr>
          <p:cNvPr id="12" name="Shape 10"/>
          <p:cNvSpPr/>
          <p:nvPr/>
        </p:nvSpPr>
        <p:spPr>
          <a:xfrm>
            <a:off x="365760" y="2532888"/>
            <a:ext cx="8412480" cy="1078992"/>
          </a:xfrm>
          <a:prstGeom prst="rect">
            <a:avLst/>
          </a:prstGeom>
          <a:solidFill>
            <a:srgbClr val="FFFFFF"/>
          </a:solidFill>
          <a:ln w="12700">
            <a:solidFill>
              <a:srgbClr val="D0DCE8"/>
            </a:solidFill>
            <a:prstDash val="solid"/>
          </a:ln>
          <a:effectLst>
            <a:outerShdw sx="100000" sy="100000" kx="0" ky="0" algn="bl" rotWithShape="0" blurRad="101600" dist="38100" dir="8100000">
              <a:srgbClr val="000000">
                <a:alpha val="12000"/>
              </a:srgbClr>
            </a:outerShdw>
          </a:effectLst>
        </p:spPr>
      </p:sp>
      <p:sp>
        <p:nvSpPr>
          <p:cNvPr id="13" name="Shape 11"/>
          <p:cNvSpPr/>
          <p:nvPr/>
        </p:nvSpPr>
        <p:spPr>
          <a:xfrm>
            <a:off x="365760" y="2532888"/>
            <a:ext cx="640080" cy="1078992"/>
          </a:xfrm>
          <a:prstGeom prst="rect">
            <a:avLst/>
          </a:prstGeom>
          <a:solidFill>
            <a:srgbClr val="2E6DA4"/>
          </a:solidFill>
          <a:ln w="12700">
            <a:solidFill>
              <a:srgbClr val="2E6DA4"/>
            </a:solidFill>
            <a:prstDash val="solid"/>
          </a:ln>
        </p:spPr>
      </p:sp>
      <p:sp>
        <p:nvSpPr>
          <p:cNvPr id="14" name="Text 12"/>
          <p:cNvSpPr/>
          <p:nvPr/>
        </p:nvSpPr>
        <p:spPr>
          <a:xfrm>
            <a:off x="365760" y="2532888"/>
            <a:ext cx="640080" cy="107899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02</a:t>
            </a:r>
            <a:endParaRPr lang="en-US" sz="1800" dirty="0"/>
          </a:p>
        </p:txBody>
      </p:sp>
      <p:sp>
        <p:nvSpPr>
          <p:cNvPr id="15" name="Text 13"/>
          <p:cNvSpPr/>
          <p:nvPr/>
        </p:nvSpPr>
        <p:spPr>
          <a:xfrm>
            <a:off x="1143000" y="2624328"/>
            <a:ext cx="7223760" cy="292608"/>
          </a:xfrm>
          <a:prstGeom prst="rect">
            <a:avLst/>
          </a:prstGeom>
          <a:noFill/>
          <a:ln/>
        </p:spPr>
        <p:txBody>
          <a:bodyPr wrap="square"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Edge vs. Cloud Balance</a:t>
            </a:r>
            <a:endParaRPr lang="en-US" sz="1300" dirty="0"/>
          </a:p>
        </p:txBody>
      </p:sp>
      <p:sp>
        <p:nvSpPr>
          <p:cNvPr id="16" name="Text 14"/>
          <p:cNvSpPr/>
          <p:nvPr/>
        </p:nvSpPr>
        <p:spPr>
          <a:xfrm>
            <a:off x="1143000" y="2916936"/>
            <a:ext cx="7223760" cy="621792"/>
          </a:xfrm>
          <a:prstGeom prst="rect">
            <a:avLst/>
          </a:prstGeom>
          <a:noFill/>
          <a:ln/>
        </p:spPr>
        <p:txBody>
          <a:bodyPr wrap="square" rtlCol="0" anchor="t"/>
          <a:lstStyle/>
          <a:p>
            <a:pPr indent="0" marL="0">
              <a:buNone/>
            </a:pPr>
            <a:r>
              <a:rPr lang="en-US" sz="1150" dirty="0">
                <a:solidFill>
                  <a:srgbClr val="374151"/>
                </a:solidFill>
                <a:latin typeface="Calibri" pitchFamily="34" charset="0"/>
                <a:ea typeface="Calibri" pitchFamily="34" charset="-122"/>
                <a:cs typeface="Calibri" pitchFamily="34" charset="-120"/>
              </a:rPr>
              <a:t>Putting more on the edge makes things faster but the device has limited power. Keeping the deployed model lean and sending heavier retraining tasks to the cloud is the most practical balance.</a:t>
            </a:r>
            <a:endParaRPr lang="en-US" sz="1150" dirty="0"/>
          </a:p>
        </p:txBody>
      </p:sp>
      <p:sp>
        <p:nvSpPr>
          <p:cNvPr id="17" name="Shape 15"/>
          <p:cNvSpPr/>
          <p:nvPr/>
        </p:nvSpPr>
        <p:spPr>
          <a:xfrm>
            <a:off x="365760" y="3739896"/>
            <a:ext cx="8412480" cy="1078992"/>
          </a:xfrm>
          <a:prstGeom prst="rect">
            <a:avLst/>
          </a:prstGeom>
          <a:solidFill>
            <a:srgbClr val="FFFFFF"/>
          </a:solidFill>
          <a:ln w="12700">
            <a:solidFill>
              <a:srgbClr val="D0DCE8"/>
            </a:solidFill>
            <a:prstDash val="solid"/>
          </a:ln>
          <a:effectLst>
            <a:outerShdw sx="100000" sy="100000" kx="0" ky="0" algn="bl" rotWithShape="0" blurRad="101600" dist="38100" dir="8100000">
              <a:srgbClr val="000000">
                <a:alpha val="12000"/>
              </a:srgbClr>
            </a:outerShdw>
          </a:effectLst>
        </p:spPr>
      </p:sp>
      <p:sp>
        <p:nvSpPr>
          <p:cNvPr id="18" name="Shape 16"/>
          <p:cNvSpPr/>
          <p:nvPr/>
        </p:nvSpPr>
        <p:spPr>
          <a:xfrm>
            <a:off x="365760" y="3739896"/>
            <a:ext cx="640080" cy="1078992"/>
          </a:xfrm>
          <a:prstGeom prst="rect">
            <a:avLst/>
          </a:prstGeom>
          <a:solidFill>
            <a:srgbClr val="2E6DA4"/>
          </a:solidFill>
          <a:ln w="12700">
            <a:solidFill>
              <a:srgbClr val="2E6DA4"/>
            </a:solidFill>
            <a:prstDash val="solid"/>
          </a:ln>
        </p:spPr>
      </p:sp>
      <p:sp>
        <p:nvSpPr>
          <p:cNvPr id="19" name="Text 17"/>
          <p:cNvSpPr/>
          <p:nvPr/>
        </p:nvSpPr>
        <p:spPr>
          <a:xfrm>
            <a:off x="365760" y="3739896"/>
            <a:ext cx="640080" cy="107899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03</a:t>
            </a:r>
            <a:endParaRPr lang="en-US" sz="1800" dirty="0"/>
          </a:p>
        </p:txBody>
      </p:sp>
      <p:sp>
        <p:nvSpPr>
          <p:cNvPr id="20" name="Text 18"/>
          <p:cNvSpPr/>
          <p:nvPr/>
        </p:nvSpPr>
        <p:spPr>
          <a:xfrm>
            <a:off x="1143000" y="3831336"/>
            <a:ext cx="7223760" cy="292608"/>
          </a:xfrm>
          <a:prstGeom prst="rect">
            <a:avLst/>
          </a:prstGeom>
          <a:noFill/>
          <a:ln/>
        </p:spPr>
        <p:txBody>
          <a:bodyPr wrap="square"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Planning for Failure</a:t>
            </a:r>
            <a:endParaRPr lang="en-US" sz="1300" dirty="0"/>
          </a:p>
        </p:txBody>
      </p:sp>
      <p:sp>
        <p:nvSpPr>
          <p:cNvPr id="21" name="Text 19"/>
          <p:cNvSpPr/>
          <p:nvPr/>
        </p:nvSpPr>
        <p:spPr>
          <a:xfrm>
            <a:off x="1143000" y="4123944"/>
            <a:ext cx="7223760" cy="621792"/>
          </a:xfrm>
          <a:prstGeom prst="rect">
            <a:avLst/>
          </a:prstGeom>
          <a:noFill/>
          <a:ln/>
        </p:spPr>
        <p:txBody>
          <a:bodyPr wrap="square" rtlCol="0" anchor="t"/>
          <a:lstStyle/>
          <a:p>
            <a:pPr indent="0" marL="0">
              <a:buNone/>
            </a:pPr>
            <a:r>
              <a:rPr lang="en-US" sz="1150" dirty="0">
                <a:solidFill>
                  <a:srgbClr val="374151"/>
                </a:solidFill>
                <a:latin typeface="Calibri" pitchFamily="34" charset="0"/>
                <a:ea typeface="Calibri" pitchFamily="34" charset="-122"/>
                <a:cs typeface="Calibri" pitchFamily="34" charset="-120"/>
              </a:rPr>
              <a:t>The most valuable part of this design process was thinking through what happens when things go wrong — model drift, sensor outages, alert fatigue — not just designing for when everything works perfectly.</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3A7BD5"/>
          </a:solidFill>
          <a:ln w="12700">
            <a:solidFill>
              <a:srgbClr val="3A7BD5"/>
            </a:solidFill>
            <a:prstDash val="solid"/>
          </a:ln>
        </p:spPr>
      </p:sp>
      <p:sp>
        <p:nvSpPr>
          <p:cNvPr id="3" name="Text 1"/>
          <p:cNvSpPr/>
          <p:nvPr/>
        </p:nvSpPr>
        <p:spPr>
          <a:xfrm>
            <a:off x="457200" y="640080"/>
            <a:ext cx="8229600" cy="914400"/>
          </a:xfrm>
          <a:prstGeom prst="rect">
            <a:avLst/>
          </a:prstGeom>
          <a:noFill/>
          <a:ln/>
        </p:spPr>
        <p:txBody>
          <a:bodyPr wrap="square" rtlCol="0" anchor="ctr"/>
          <a:lstStyle/>
          <a:p>
            <a:pPr algn="l" indent="0" marL="0">
              <a:buNone/>
            </a:pPr>
            <a:r>
              <a:rPr lang="en-US" sz="3800" b="1" dirty="0">
                <a:solidFill>
                  <a:srgbClr val="FFFFFF"/>
                </a:solidFill>
                <a:latin typeface="Calibri" pitchFamily="34" charset="0"/>
                <a:ea typeface="Calibri" pitchFamily="34" charset="-122"/>
                <a:cs typeface="Calibri" pitchFamily="34" charset="-120"/>
              </a:rPr>
              <a:t>Thank You</a:t>
            </a:r>
            <a:endParaRPr lang="en-US" sz="3800" dirty="0"/>
          </a:p>
        </p:txBody>
      </p:sp>
      <p:sp>
        <p:nvSpPr>
          <p:cNvPr id="4" name="Shape 2"/>
          <p:cNvSpPr/>
          <p:nvPr/>
        </p:nvSpPr>
        <p:spPr>
          <a:xfrm>
            <a:off x="457200" y="1572768"/>
            <a:ext cx="8229600" cy="36576"/>
          </a:xfrm>
          <a:prstGeom prst="rect">
            <a:avLst/>
          </a:prstGeom>
          <a:solidFill>
            <a:srgbClr val="4A6FA5"/>
          </a:solidFill>
          <a:ln w="12700">
            <a:solidFill>
              <a:srgbClr val="4A6FA5"/>
            </a:solidFill>
            <a:prstDash val="solid"/>
          </a:ln>
        </p:spPr>
      </p:sp>
      <p:sp>
        <p:nvSpPr>
          <p:cNvPr id="5" name="Text 3"/>
          <p:cNvSpPr/>
          <p:nvPr/>
        </p:nvSpPr>
        <p:spPr>
          <a:xfrm>
            <a:off x="457200" y="1719072"/>
            <a:ext cx="8229600" cy="365760"/>
          </a:xfrm>
          <a:prstGeom prst="rect">
            <a:avLst/>
          </a:prstGeom>
          <a:noFill/>
          <a:ln/>
        </p:spPr>
        <p:txBody>
          <a:bodyPr wrap="square" rtlCol="0" anchor="ctr"/>
          <a:lstStyle/>
          <a:p>
            <a:pPr indent="0" marL="0">
              <a:buNone/>
            </a:pPr>
            <a:r>
              <a:rPr lang="en-US" sz="1500" b="1" dirty="0">
                <a:solidFill>
                  <a:srgbClr val="A8C8E8"/>
                </a:solidFill>
                <a:latin typeface="Calibri" pitchFamily="34" charset="0"/>
                <a:ea typeface="Calibri" pitchFamily="34" charset="-122"/>
                <a:cs typeface="Calibri" pitchFamily="34" charset="-120"/>
              </a:rPr>
              <a:t>Key Takeaways</a:t>
            </a:r>
            <a:endParaRPr lang="en-US" sz="1500" dirty="0"/>
          </a:p>
        </p:txBody>
      </p:sp>
      <p:sp>
        <p:nvSpPr>
          <p:cNvPr id="6" name="Text 4"/>
          <p:cNvSpPr/>
          <p:nvPr/>
        </p:nvSpPr>
        <p:spPr>
          <a:xfrm>
            <a:off x="502920" y="1920240"/>
            <a:ext cx="8046720" cy="2377440"/>
          </a:xfrm>
          <a:prstGeom prst="rect">
            <a:avLst/>
          </a:prstGeom>
          <a:noFill/>
          <a:ln/>
        </p:spPr>
        <p:txBody>
          <a:bodyPr wrap="square" rtlCol="0" anchor="ctr"/>
          <a:lstStyle/>
          <a:p>
            <a:pPr marL="342900" indent="-342900">
              <a:spcAft>
                <a:spcPts val="1000"/>
              </a:spcAft>
              <a:buSzPct val="100000"/>
              <a:buChar char="•"/>
            </a:pPr>
            <a:r>
              <a:rPr lang="en-US" sz="1350" dirty="0">
                <a:solidFill>
                  <a:srgbClr val="D6E8FF"/>
                </a:solidFill>
                <a:latin typeface="Calibri" pitchFamily="34" charset="0"/>
                <a:ea typeface="Calibri" pitchFamily="34" charset="-122"/>
                <a:cs typeface="Calibri" pitchFamily="34" charset="-120"/>
              </a:rPr>
              <a:t>Edge-first architecture keeps decisions fast and independent of cloud connectivity.</a:t>
            </a:r>
            <a:endParaRPr lang="en-US" sz="1350" dirty="0"/>
          </a:p>
          <a:p>
            <a:pPr marL="342900" indent="-342900">
              <a:spcAft>
                <a:spcPts val="1000"/>
              </a:spcAft>
              <a:buSzPct val="100000"/>
              <a:buChar char="•"/>
            </a:pPr>
            <a:r>
              <a:rPr lang="en-US" sz="1350" dirty="0">
                <a:solidFill>
                  <a:srgbClr val="D6E8FF"/>
                </a:solidFill>
                <a:latin typeface="Calibri" pitchFamily="34" charset="0"/>
                <a:ea typeface="Calibri" pitchFamily="34" charset="-122"/>
                <a:cs typeface="Calibri" pitchFamily="34" charset="-120"/>
              </a:rPr>
              <a:t>A GAN provides the synthetic failure data needed to train the detection model.</a:t>
            </a:r>
            <a:endParaRPr lang="en-US" sz="1350" dirty="0"/>
          </a:p>
          <a:p>
            <a:pPr marL="342900" indent="-342900">
              <a:spcAft>
                <a:spcPts val="1000"/>
              </a:spcAft>
              <a:buSzPct val="100000"/>
              <a:buChar char="•"/>
            </a:pPr>
            <a:r>
              <a:rPr lang="en-US" sz="1350" dirty="0">
                <a:solidFill>
                  <a:srgbClr val="D6E8FF"/>
                </a:solidFill>
                <a:latin typeface="Calibri" pitchFamily="34" charset="0"/>
                <a:ea typeface="Calibri" pitchFamily="34" charset="-122"/>
                <a:cs typeface="Calibri" pitchFamily="34" charset="-120"/>
              </a:rPr>
              <a:t>Security and transparency are built into the design from the start, not added after.</a:t>
            </a:r>
            <a:endParaRPr lang="en-US" sz="1350" dirty="0"/>
          </a:p>
          <a:p>
            <a:pPr marL="342900" indent="-342900">
              <a:spcAft>
                <a:spcPts val="1000"/>
              </a:spcAft>
              <a:buSzPct val="100000"/>
              <a:buChar char="•"/>
            </a:pPr>
            <a:r>
              <a:rPr lang="en-US" sz="1350" dirty="0">
                <a:solidFill>
                  <a:srgbClr val="D6E8FF"/>
                </a:solidFill>
                <a:latin typeface="Calibri" pitchFamily="34" charset="0"/>
                <a:ea typeface="Calibri" pitchFamily="34" charset="-122"/>
                <a:cs typeface="Calibri" pitchFamily="34" charset="-120"/>
              </a:rPr>
              <a:t>Planning for what goes wrong matters more than choosing the right tools.</a:t>
            </a:r>
            <a:endParaRPr lang="en-US" sz="1350" dirty="0"/>
          </a:p>
        </p:txBody>
      </p:sp>
      <p:sp>
        <p:nvSpPr>
          <p:cNvPr id="7" name="Text 5"/>
          <p:cNvSpPr/>
          <p:nvPr/>
        </p:nvSpPr>
        <p:spPr>
          <a:xfrm>
            <a:off x="457200" y="4663440"/>
            <a:ext cx="8229600" cy="320040"/>
          </a:xfrm>
          <a:prstGeom prst="rect">
            <a:avLst/>
          </a:prstGeom>
          <a:noFill/>
          <a:ln/>
        </p:spPr>
        <p:txBody>
          <a:bodyPr wrap="square" rtlCol="0" anchor="ctr"/>
          <a:lstStyle/>
          <a:p>
            <a:pPr algn="l" indent="0" marL="0">
              <a:buNone/>
            </a:pPr>
            <a:r>
              <a:rPr lang="en-US" sz="1000" dirty="0">
                <a:solidFill>
                  <a:srgbClr val="6B8FB5"/>
                </a:solidFill>
                <a:latin typeface="Calibri" pitchFamily="34" charset="0"/>
                <a:ea typeface="Calibri" pitchFamily="34" charset="-122"/>
                <a:cs typeface="Calibri" pitchFamily="34" charset="-120"/>
              </a:rPr>
              <a:t>Judith Barrios  |  ITAI 3377  |  April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Autonomous Maintenance Agent for a Smart Factory</dc:title>
  <dc:subject>PptxGenJS Presentation</dc:subject>
  <dc:creator>Judith Barrios</dc:creator>
  <cp:lastModifiedBy>Judith Barrios</cp:lastModifiedBy>
  <cp:revision>1</cp:revision>
  <dcterms:created xsi:type="dcterms:W3CDTF">2026-04-15T00:12:17Z</dcterms:created>
  <dcterms:modified xsi:type="dcterms:W3CDTF">2026-04-15T00:12:17Z</dcterms:modified>
</cp:coreProperties>
</file>